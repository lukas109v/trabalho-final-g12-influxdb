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588fefe8b24777" /><Relationship Type="http://schemas.openxmlformats.org/officeDocument/2006/relationships/extended-properties" Target="/docProps/app.xml" Id="R414e2eba313646fd" /><Relationship Type="http://schemas.openxmlformats.org/officeDocument/2006/relationships/officeDocument" Target="/ppt/presentation.xml" Id="R7deafb6220d145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9ff9c320c04106"/>
  </p:sldMasterIdLst>
  <p:notesMasterIdLst>
    <p:notesMasterId xmlns:r="http://schemas.openxmlformats.org/officeDocument/2006/relationships" r:id="Rfc1f8ffe10384016"/>
  </p:notesMasterIdLst>
  <p:sldIdLst>
    <p:sldId xmlns:r="http://schemas.openxmlformats.org/officeDocument/2006/relationships" id="256" r:id="Rf1b1811859174e5a"/>
    <p:sldId xmlns:r="http://schemas.openxmlformats.org/officeDocument/2006/relationships" id="257" r:id="Re44f9bb571554ce5"/>
    <p:sldId xmlns:r="http://schemas.openxmlformats.org/officeDocument/2006/relationships" id="258" r:id="Rf0528cd972a54b59"/>
    <p:sldId xmlns:r="http://schemas.openxmlformats.org/officeDocument/2006/relationships" id="259" r:id="Ra0aacc606363480f"/>
    <p:sldId xmlns:r="http://schemas.openxmlformats.org/officeDocument/2006/relationships" id="260" r:id="R301f435b03e94220"/>
    <p:sldId xmlns:r="http://schemas.openxmlformats.org/officeDocument/2006/relationships" id="261" r:id="Rde4f69b98f754a84"/>
    <p:sldId xmlns:r="http://schemas.openxmlformats.org/officeDocument/2006/relationships" id="262" r:id="R18611d6c89b94cbf"/>
    <p:sldId xmlns:r="http://schemas.openxmlformats.org/officeDocument/2006/relationships" id="263" r:id="R737afe755a2c4cba"/>
    <p:sldId xmlns:r="http://schemas.openxmlformats.org/officeDocument/2006/relationships" id="264" r:id="R6399f37e89f44d60"/>
    <p:sldId xmlns:r="http://schemas.openxmlformats.org/officeDocument/2006/relationships" id="265" r:id="R2cc104aeb5224fdb"/>
    <p:sldId xmlns:r="http://schemas.openxmlformats.org/officeDocument/2006/relationships" id="266" r:id="R466d1e14629c4847"/>
    <p:sldId xmlns:r="http://schemas.openxmlformats.org/officeDocument/2006/relationships" id="267" r:id="R561961b2d6b0448d"/>
    <p:sldId xmlns:r="http://schemas.openxmlformats.org/officeDocument/2006/relationships" id="268" r:id="R67863480f3ac44a9"/>
    <p:sldId xmlns:r="http://schemas.openxmlformats.org/officeDocument/2006/relationships" id="269" r:id="Ra39281921a7b4c9d"/>
    <p:sldId xmlns:r="http://schemas.openxmlformats.org/officeDocument/2006/relationships" id="270" r:id="Rc8b3eb6ef94b4f51"/>
    <p:sldId xmlns:r="http://schemas.openxmlformats.org/officeDocument/2006/relationships" id="271" r:id="R216c9267e1b54155"/>
    <p:sldId xmlns:r="http://schemas.openxmlformats.org/officeDocument/2006/relationships" id="272" r:id="R0ea1712ef7e64bdd"/>
    <p:sldId xmlns:r="http://schemas.openxmlformats.org/officeDocument/2006/relationships" id="273" r:id="Rd887bebed88149da"/>
    <p:sldId xmlns:r="http://schemas.openxmlformats.org/officeDocument/2006/relationships" id="274" r:id="Rc9f081ab34114b9a"/>
    <p:sldId xmlns:r="http://schemas.openxmlformats.org/officeDocument/2006/relationships" id="275" r:id="R0ab779a97f79466b"/>
    <p:sldId xmlns:r="http://schemas.openxmlformats.org/officeDocument/2006/relationships" id="276" r:id="Rad13888296d9465d"/>
    <p:sldId xmlns:r="http://schemas.openxmlformats.org/officeDocument/2006/relationships" id="277" r:id="R3e94d2bd36b44a46"/>
    <p:sldId xmlns:r="http://schemas.openxmlformats.org/officeDocument/2006/relationships" id="278" r:id="R6a87b108b8b04e1e"/>
    <p:sldId xmlns:r="http://schemas.openxmlformats.org/officeDocument/2006/relationships" id="279" r:id="R6ae950a89e3e42c6"/>
    <p:sldId xmlns:r="http://schemas.openxmlformats.org/officeDocument/2006/relationships" id="280" r:id="Re7438c6c442949a4"/>
    <p:sldId xmlns:r="http://schemas.openxmlformats.org/officeDocument/2006/relationships" id="281" r:id="R58908b411dc34fd4"/>
    <p:sldId xmlns:r="http://schemas.openxmlformats.org/officeDocument/2006/relationships" id="282" r:id="R64d7782862264d98"/>
    <p:sldId xmlns:r="http://schemas.openxmlformats.org/officeDocument/2006/relationships" id="283" r:id="Rc5fb6b263299427d"/>
    <p:sldId xmlns:r="http://schemas.openxmlformats.org/officeDocument/2006/relationships" id="284" r:id="Rddd02e5edb604d56"/>
    <p:sldId xmlns:r="http://schemas.openxmlformats.org/officeDocument/2006/relationships" id="285" r:id="R3c209cdccca94fcf"/>
    <p:sldId xmlns:r="http://schemas.openxmlformats.org/officeDocument/2006/relationships" id="286" r:id="Rdcce12399b82459b"/>
    <p:sldId xmlns:r="http://schemas.openxmlformats.org/officeDocument/2006/relationships" id="287" r:id="Rfafc1958a02a4b9e"/>
    <p:sldId xmlns:r="http://schemas.openxmlformats.org/officeDocument/2006/relationships" id="288" r:id="R5d08da4a0fa44ee7"/>
    <p:sldId xmlns:r="http://schemas.openxmlformats.org/officeDocument/2006/relationships" id="289" r:id="R89e1ce55f5a64c5a"/>
    <p:sldId xmlns:r="http://schemas.openxmlformats.org/officeDocument/2006/relationships" id="290" r:id="Rf7c9824d6fd34f34"/>
    <p:sldId xmlns:r="http://schemas.openxmlformats.org/officeDocument/2006/relationships" id="291" r:id="R328067d7e5cd4b9e"/>
    <p:sldId xmlns:r="http://schemas.openxmlformats.org/officeDocument/2006/relationships" id="292" r:id="Ra6e9ee1d13b44fed"/>
    <p:sldId xmlns:r="http://schemas.openxmlformats.org/officeDocument/2006/relationships" id="293" r:id="R8db7d205065a4529"/>
    <p:sldId xmlns:r="http://schemas.openxmlformats.org/officeDocument/2006/relationships" id="294" r:id="R10274ff1d677480e"/>
    <p:sldId xmlns:r="http://schemas.openxmlformats.org/officeDocument/2006/relationships" id="295" r:id="R4b2f105c138b4c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682b7974544da" /><Relationship Type="http://schemas.openxmlformats.org/officeDocument/2006/relationships/slideMaster" Target="/ppt/slideMasters/slideMaster1.xml" Id="R9b9ff9c320c04106" /><Relationship Type="http://schemas.openxmlformats.org/officeDocument/2006/relationships/notesMaster" Target="/ppt/notesMasters/notesMaster1.xml" Id="Rfc1f8ffe10384016" /><Relationship Type="http://schemas.openxmlformats.org/officeDocument/2006/relationships/presProps" Target="/ppt/presProps.xml" Id="R5a5cf8ca8d354e1f" /><Relationship Type="http://schemas.openxmlformats.org/officeDocument/2006/relationships/tableStyles" Target="/ppt/tableStyles.xml" Id="R8344f391051c444e" /><Relationship Type="http://schemas.openxmlformats.org/officeDocument/2006/relationships/slide" Target="/ppt/slides/slide1.xml" Id="Rf1b1811859174e5a" /><Relationship Type="http://schemas.openxmlformats.org/officeDocument/2006/relationships/slide" Target="/ppt/slides/slide2.xml" Id="Re44f9bb571554ce5" /><Relationship Type="http://schemas.openxmlformats.org/officeDocument/2006/relationships/slide" Target="/ppt/slides/slide3.xml" Id="Rf0528cd972a54b59" /><Relationship Type="http://schemas.openxmlformats.org/officeDocument/2006/relationships/slide" Target="/ppt/slides/slide4.xml" Id="Ra0aacc606363480f" /><Relationship Type="http://schemas.openxmlformats.org/officeDocument/2006/relationships/slide" Target="/ppt/slides/slide5.xml" Id="R301f435b03e94220" /><Relationship Type="http://schemas.openxmlformats.org/officeDocument/2006/relationships/slide" Target="/ppt/slides/slide6.xml" Id="Rde4f69b98f754a84" /><Relationship Type="http://schemas.openxmlformats.org/officeDocument/2006/relationships/slide" Target="/ppt/slides/slide7.xml" Id="R18611d6c89b94cbf" /><Relationship Type="http://schemas.openxmlformats.org/officeDocument/2006/relationships/slide" Target="/ppt/slides/slide8.xml" Id="R737afe755a2c4cba" /><Relationship Type="http://schemas.openxmlformats.org/officeDocument/2006/relationships/slide" Target="/ppt/slides/slide9.xml" Id="R6399f37e89f44d60" /><Relationship Type="http://schemas.openxmlformats.org/officeDocument/2006/relationships/slide" Target="/ppt/slides/slide10.xml" Id="R2cc104aeb5224fdb" /><Relationship Type="http://schemas.openxmlformats.org/officeDocument/2006/relationships/slide" Target="/ppt/slides/slide11.xml" Id="R466d1e14629c4847" /><Relationship Type="http://schemas.openxmlformats.org/officeDocument/2006/relationships/slide" Target="/ppt/slides/slide12.xml" Id="R561961b2d6b0448d" /><Relationship Type="http://schemas.openxmlformats.org/officeDocument/2006/relationships/slide" Target="/ppt/slides/slide13.xml" Id="R67863480f3ac44a9" /><Relationship Type="http://schemas.openxmlformats.org/officeDocument/2006/relationships/slide" Target="/ppt/slides/slide14.xml" Id="Ra39281921a7b4c9d" /><Relationship Type="http://schemas.openxmlformats.org/officeDocument/2006/relationships/slide" Target="/ppt/slides/slide15.xml" Id="Rc8b3eb6ef94b4f51" /><Relationship Type="http://schemas.openxmlformats.org/officeDocument/2006/relationships/slide" Target="/ppt/slides/slide16.xml" Id="R216c9267e1b54155" /><Relationship Type="http://schemas.openxmlformats.org/officeDocument/2006/relationships/slide" Target="/ppt/slides/slide17.xml" Id="R0ea1712ef7e64bdd" /><Relationship Type="http://schemas.openxmlformats.org/officeDocument/2006/relationships/slide" Target="/ppt/slides/slide18.xml" Id="Rd887bebed88149da" /><Relationship Type="http://schemas.openxmlformats.org/officeDocument/2006/relationships/slide" Target="/ppt/slides/slide19.xml" Id="Rc9f081ab34114b9a" /><Relationship Type="http://schemas.openxmlformats.org/officeDocument/2006/relationships/slide" Target="/ppt/slides/slide20.xml" Id="R0ab779a97f79466b" /><Relationship Type="http://schemas.openxmlformats.org/officeDocument/2006/relationships/slide" Target="/ppt/slides/slide21.xml" Id="Rad13888296d9465d" /><Relationship Type="http://schemas.openxmlformats.org/officeDocument/2006/relationships/slide" Target="/ppt/slides/slide22.xml" Id="R3e94d2bd36b44a46" /><Relationship Type="http://schemas.openxmlformats.org/officeDocument/2006/relationships/slide" Target="/ppt/slides/slide23.xml" Id="R6a87b108b8b04e1e" /><Relationship Type="http://schemas.openxmlformats.org/officeDocument/2006/relationships/slide" Target="/ppt/slides/slide24.xml" Id="R6ae950a89e3e42c6" /><Relationship Type="http://schemas.openxmlformats.org/officeDocument/2006/relationships/slide" Target="/ppt/slides/slide25.xml" Id="Re7438c6c442949a4" /><Relationship Type="http://schemas.openxmlformats.org/officeDocument/2006/relationships/slide" Target="/ppt/slides/slide26.xml" Id="R58908b411dc34fd4" /><Relationship Type="http://schemas.openxmlformats.org/officeDocument/2006/relationships/slide" Target="/ppt/slides/slide27.xml" Id="R64d7782862264d98" /><Relationship Type="http://schemas.openxmlformats.org/officeDocument/2006/relationships/slide" Target="/ppt/slides/slide28.xml" Id="Rc5fb6b263299427d" /><Relationship Type="http://schemas.openxmlformats.org/officeDocument/2006/relationships/slide" Target="/ppt/slides/slide29.xml" Id="Rddd02e5edb604d56" /><Relationship Type="http://schemas.openxmlformats.org/officeDocument/2006/relationships/slide" Target="/ppt/slides/slide30.xml" Id="R3c209cdccca94fcf" /><Relationship Type="http://schemas.openxmlformats.org/officeDocument/2006/relationships/slide" Target="/ppt/slides/slide31.xml" Id="Rdcce12399b82459b" /><Relationship Type="http://schemas.openxmlformats.org/officeDocument/2006/relationships/slide" Target="/ppt/slides/slide32.xml" Id="Rfafc1958a02a4b9e" /><Relationship Type="http://schemas.openxmlformats.org/officeDocument/2006/relationships/slide" Target="/ppt/slides/slide33.xml" Id="R5d08da4a0fa44ee7" /><Relationship Type="http://schemas.openxmlformats.org/officeDocument/2006/relationships/slide" Target="/ppt/slides/slide34.xml" Id="R89e1ce55f5a64c5a" /><Relationship Type="http://schemas.openxmlformats.org/officeDocument/2006/relationships/slide" Target="/ppt/slides/slide35.xml" Id="Rf7c9824d6fd34f34" /><Relationship Type="http://schemas.openxmlformats.org/officeDocument/2006/relationships/slide" Target="/ppt/slides/slide36.xml" Id="R328067d7e5cd4b9e" /><Relationship Type="http://schemas.openxmlformats.org/officeDocument/2006/relationships/slide" Target="/ppt/slides/slide37.xml" Id="Ra6e9ee1d13b44fed" /><Relationship Type="http://schemas.openxmlformats.org/officeDocument/2006/relationships/slide" Target="/ppt/slides/slide38.xml" Id="R8db7d205065a4529" /><Relationship Type="http://schemas.openxmlformats.org/officeDocument/2006/relationships/slide" Target="/ppt/slides/slide39.xml" Id="R10274ff1d677480e" /><Relationship Type="http://schemas.openxmlformats.org/officeDocument/2006/relationships/slide" Target="/ppt/slides/slide40.xml" Id="R4b2f105c138b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e3b1f8524f44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5e5ac257644454" /><Relationship Type="http://schemas.openxmlformats.org/officeDocument/2006/relationships/notesMaster" Target="/ppt/notesMasters/notesMaster1.xml" Id="Rc26c9c90fc44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0005ae208242f2" /><Relationship Type="http://schemas.openxmlformats.org/officeDocument/2006/relationships/notesMaster" Target="/ppt/notesMasters/notesMaster1.xml" Id="Ra59bfb70479045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d2132e2ebc49ba" /><Relationship Type="http://schemas.openxmlformats.org/officeDocument/2006/relationships/notesMaster" Target="/ppt/notesMasters/notesMaster1.xml" Id="Ra3b2b76eb4794a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67764d35b640a0" /><Relationship Type="http://schemas.openxmlformats.org/officeDocument/2006/relationships/notesMaster" Target="/ppt/notesMasters/notesMaster1.xml" Id="R19e2ea15e98043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8b10dd21714104" /><Relationship Type="http://schemas.openxmlformats.org/officeDocument/2006/relationships/notesMaster" Target="/ppt/notesMasters/notesMaster1.xml" Id="R4bc9c8368d684d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1c961e8074f9d" /><Relationship Type="http://schemas.openxmlformats.org/officeDocument/2006/relationships/notesMaster" Target="/ppt/notesMasters/notesMaster1.xml" Id="R6721b9da932d45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8abc624df64eb2" /><Relationship Type="http://schemas.openxmlformats.org/officeDocument/2006/relationships/notesMaster" Target="/ppt/notesMasters/notesMaster1.xml" Id="Ra4743513ebf946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038f5d9f414948" /><Relationship Type="http://schemas.openxmlformats.org/officeDocument/2006/relationships/notesMaster" Target="/ppt/notesMasters/notesMaster1.xml" Id="Rd86eaae4c03d42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d5ae6887b7487f" /><Relationship Type="http://schemas.openxmlformats.org/officeDocument/2006/relationships/notesMaster" Target="/ppt/notesMasters/notesMaster1.xml" Id="Re3127bb4ec5a48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96c046a27540e9" /><Relationship Type="http://schemas.openxmlformats.org/officeDocument/2006/relationships/notesMaster" Target="/ppt/notesMasters/notesMaster1.xml" Id="R466d26e5611940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c55197c0c84012" /><Relationship Type="http://schemas.openxmlformats.org/officeDocument/2006/relationships/notesMaster" Target="/ppt/notesMasters/notesMaster1.xml" Id="R5958313d9b9040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4f75abe24041bc" /><Relationship Type="http://schemas.openxmlformats.org/officeDocument/2006/relationships/notesMaster" Target="/ppt/notesMasters/notesMaster1.xml" Id="R3b7ead75e0544a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2944a8e4b3436c" /><Relationship Type="http://schemas.openxmlformats.org/officeDocument/2006/relationships/notesMaster" Target="/ppt/notesMasters/notesMaster1.xml" Id="Rd15a0beb38b043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144d42853f4288" /><Relationship Type="http://schemas.openxmlformats.org/officeDocument/2006/relationships/notesMaster" Target="/ppt/notesMasters/notesMaster1.xml" Id="R9fc47ff8ba9a42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98dfd3034d43fd" /><Relationship Type="http://schemas.openxmlformats.org/officeDocument/2006/relationships/notesMaster" Target="/ppt/notesMasters/notesMaster1.xml" Id="R76097128972241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349fa16e574515" /><Relationship Type="http://schemas.openxmlformats.org/officeDocument/2006/relationships/notesMaster" Target="/ppt/notesMasters/notesMaster1.xml" Id="R1c65c48c2b7f43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0af00859cb4b77" /><Relationship Type="http://schemas.openxmlformats.org/officeDocument/2006/relationships/notesMaster" Target="/ppt/notesMasters/notesMaster1.xml" Id="R5aeb71de15c348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28be8dee894f51" /><Relationship Type="http://schemas.openxmlformats.org/officeDocument/2006/relationships/notesMaster" Target="/ppt/notesMasters/notesMaster1.xml" Id="Re11d218159e84f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40f54c889c4873" /><Relationship Type="http://schemas.openxmlformats.org/officeDocument/2006/relationships/notesMaster" Target="/ppt/notesMasters/notesMaster1.xml" Id="Reda58fdacf7c4c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aca27ff7e84f5a" /><Relationship Type="http://schemas.openxmlformats.org/officeDocument/2006/relationships/notesMaster" Target="/ppt/notesMasters/notesMaster1.xml" Id="R98ad6370556941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dd60acdd9d490d" /><Relationship Type="http://schemas.openxmlformats.org/officeDocument/2006/relationships/notesMaster" Target="/ppt/notesMasters/notesMaster1.xml" Id="Rdd0145073b0549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2147909932b4f05" /><Relationship Type="http://schemas.openxmlformats.org/officeDocument/2006/relationships/notesMaster" Target="/ppt/notesMasters/notesMaster1.xml" Id="Rc19c6da0b4824b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49ffdbbb9b340bf" /><Relationship Type="http://schemas.openxmlformats.org/officeDocument/2006/relationships/notesMaster" Target="/ppt/notesMasters/notesMaster1.xml" Id="R4f757d2289c8453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f2c5546a0748f6" /><Relationship Type="http://schemas.openxmlformats.org/officeDocument/2006/relationships/notesMaster" Target="/ppt/notesMasters/notesMaster1.xml" Id="Rdddc2f8c164143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dbd322f7dd4ba2" /><Relationship Type="http://schemas.openxmlformats.org/officeDocument/2006/relationships/notesMaster" Target="/ppt/notesMasters/notesMaster1.xml" Id="R5714a795f4d24b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4a6505c84e4e10" /><Relationship Type="http://schemas.openxmlformats.org/officeDocument/2006/relationships/notesMaster" Target="/ppt/notesMasters/notesMaster1.xml" Id="R7d79bf8bc0cf43f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b1e722166d9409e" /><Relationship Type="http://schemas.openxmlformats.org/officeDocument/2006/relationships/notesMaster" Target="/ppt/notesMasters/notesMaster1.xml" Id="Rd1995ed2ad4c4fa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8cc2da7a2942cd" /><Relationship Type="http://schemas.openxmlformats.org/officeDocument/2006/relationships/notesMaster" Target="/ppt/notesMasters/notesMaster1.xml" Id="R413b6d935cbd456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4be307668dc4a86" /><Relationship Type="http://schemas.openxmlformats.org/officeDocument/2006/relationships/notesMaster" Target="/ppt/notesMasters/notesMaster1.xml" Id="R9946dd64872640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835de07893f4723" /><Relationship Type="http://schemas.openxmlformats.org/officeDocument/2006/relationships/notesMaster" Target="/ppt/notesMasters/notesMaster1.xml" Id="R7e2c176849564ae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c7d5948cd74335" /><Relationship Type="http://schemas.openxmlformats.org/officeDocument/2006/relationships/notesMaster" Target="/ppt/notesMasters/notesMaster1.xml" Id="Rd358cabcfc634d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f626bb4284c48dc" /><Relationship Type="http://schemas.openxmlformats.org/officeDocument/2006/relationships/notesMaster" Target="/ppt/notesMasters/notesMaster1.xml" Id="Rfb43faf77d61487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8580a56300c4a95" /><Relationship Type="http://schemas.openxmlformats.org/officeDocument/2006/relationships/notesMaster" Target="/ppt/notesMasters/notesMaster1.xml" Id="R6d2a3eaee39c4b2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f90c7e2ac4c44ab" /><Relationship Type="http://schemas.openxmlformats.org/officeDocument/2006/relationships/notesMaster" Target="/ppt/notesMasters/notesMaster1.xml" Id="R6c4af5870e314d4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0de48da9e444b2b" /><Relationship Type="http://schemas.openxmlformats.org/officeDocument/2006/relationships/notesMaster" Target="/ppt/notesMasters/notesMaster1.xml" Id="Receb3457f32245f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897027ba7dc4a85" /><Relationship Type="http://schemas.openxmlformats.org/officeDocument/2006/relationships/notesMaster" Target="/ppt/notesMasters/notesMaster1.xml" Id="Rc754b9cc6557462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2f852b11e6843c4" /><Relationship Type="http://schemas.openxmlformats.org/officeDocument/2006/relationships/notesMaster" Target="/ppt/notesMasters/notesMaster1.xml" Id="R7bfe2fadcc9041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f9554ad8f9d45f6" /><Relationship Type="http://schemas.openxmlformats.org/officeDocument/2006/relationships/notesMaster" Target="/ppt/notesMasters/notesMaster1.xml" Id="R2f223f7e7e11417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5dfcf8793a437b" /><Relationship Type="http://schemas.openxmlformats.org/officeDocument/2006/relationships/notesMaster" Target="/ppt/notesMasters/notesMaster1.xml" Id="Rc0644ee6d96f480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6079dfe17fe40f6" /><Relationship Type="http://schemas.openxmlformats.org/officeDocument/2006/relationships/notesMaster" Target="/ppt/notesMasters/notesMaster1.xml" Id="Rc763e2aa8be34c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5643e28644fd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32260b3e654aff" /><Relationship Type="http://schemas.openxmlformats.org/officeDocument/2006/relationships/slideLayout" Target="/ppt/slideLayouts/slideLayout1.xml" Id="R7642bbd06cd54ff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42bbd06cd54ffc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3d92c61b44dd7" /><Relationship Type="http://schemas.openxmlformats.org/officeDocument/2006/relationships/notesSlide" Target="/ppt/notesSlides/notesSlide1.xml" Id="R035ca7cc805d4a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e25961f9a4ad1" /><Relationship Type="http://schemas.openxmlformats.org/officeDocument/2006/relationships/notesSlide" Target="/ppt/notesSlides/notesSlide2.xml" Id="R8030e7226ad04c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9f438bc704da3" /><Relationship Type="http://schemas.openxmlformats.org/officeDocument/2006/relationships/image" Target="/ppt/media/image.jpeg" Id="R6ee8aab39d674a81" /><Relationship Type="http://schemas.openxmlformats.org/officeDocument/2006/relationships/notesSlide" Target="/ppt/notesSlides/notesSlide3.xml" Id="Rfbadadc1f8d747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22e4bfcb24f58" /><Relationship Type="http://schemas.openxmlformats.org/officeDocument/2006/relationships/image" Target="/ppt/media/image2.jpeg" Id="R97bcdc40fff746cc" /><Relationship Type="http://schemas.openxmlformats.org/officeDocument/2006/relationships/notesSlide" Target="/ppt/notesSlides/notesSlide4.xml" Id="R610a6db5763647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514484dc14862" /><Relationship Type="http://schemas.openxmlformats.org/officeDocument/2006/relationships/notesSlide" Target="/ppt/notesSlides/notesSlide5.xml" Id="R1cfc1052c6c043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b14fb6ccd4ff2" /><Relationship Type="http://schemas.openxmlformats.org/officeDocument/2006/relationships/notesSlide" Target="/ppt/notesSlides/notesSlide6.xml" Id="R655f7c699e5641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dffd62fb24858" /><Relationship Type="http://schemas.openxmlformats.org/officeDocument/2006/relationships/notesSlide" Target="/ppt/notesSlides/notesSlide7.xml" Id="R55ff5821feed41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6d8892a294209" /><Relationship Type="http://schemas.openxmlformats.org/officeDocument/2006/relationships/notesSlide" Target="/ppt/notesSlides/notesSlide8.xml" Id="R4bd6c3bd61484e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fde4c77d2471d" /><Relationship Type="http://schemas.openxmlformats.org/officeDocument/2006/relationships/image" Target="/ppt/media/image.png" Id="Rab12d19f6e95442f" /><Relationship Type="http://schemas.openxmlformats.org/officeDocument/2006/relationships/notesSlide" Target="/ppt/notesSlides/notesSlide9.xml" Id="Rf0b3ea3277c043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3584d54c747ec" /><Relationship Type="http://schemas.openxmlformats.org/officeDocument/2006/relationships/notesSlide" Target="/ppt/notesSlides/notesSlide10.xml" Id="Re4cce4c0bc3b43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b2bcf701b496b" /><Relationship Type="http://schemas.openxmlformats.org/officeDocument/2006/relationships/image" Target="/ppt/media/image2.png" Id="Re2beaac1cf7b4000" /><Relationship Type="http://schemas.openxmlformats.org/officeDocument/2006/relationships/notesSlide" Target="/ppt/notesSlides/notesSlide11.xml" Id="Rcc10693f31db42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ea01298174e6f" /><Relationship Type="http://schemas.openxmlformats.org/officeDocument/2006/relationships/notesSlide" Target="/ppt/notesSlides/notesSlide12.xml" Id="R74a9e9cbc93942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d0c3ba6844102" /><Relationship Type="http://schemas.openxmlformats.org/officeDocument/2006/relationships/notesSlide" Target="/ppt/notesSlides/notesSlide13.xml" Id="R26a65628daff45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fc3fb1f904e24" /><Relationship Type="http://schemas.openxmlformats.org/officeDocument/2006/relationships/notesSlide" Target="/ppt/notesSlides/notesSlide14.xml" Id="R98339c2ac0d34a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81d82e0994ff5" /><Relationship Type="http://schemas.openxmlformats.org/officeDocument/2006/relationships/notesSlide" Target="/ppt/notesSlides/notesSlide15.xml" Id="R8c39e61446a64f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330e3185a45f7" /><Relationship Type="http://schemas.openxmlformats.org/officeDocument/2006/relationships/image" Target="/ppt/media/image3.png" Id="Rb50ce7d1ef444329" /><Relationship Type="http://schemas.openxmlformats.org/officeDocument/2006/relationships/notesSlide" Target="/ppt/notesSlides/notesSlide16.xml" Id="R767b6a18f5384e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990b688be427d" /><Relationship Type="http://schemas.openxmlformats.org/officeDocument/2006/relationships/notesSlide" Target="/ppt/notesSlides/notesSlide17.xml" Id="R610b5bd896544f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34442d3d747d2" /><Relationship Type="http://schemas.openxmlformats.org/officeDocument/2006/relationships/notesSlide" Target="/ppt/notesSlides/notesSlide18.xml" Id="R7f56c2a8b00e46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8f0c028404517" /><Relationship Type="http://schemas.openxmlformats.org/officeDocument/2006/relationships/notesSlide" Target="/ppt/notesSlides/notesSlide19.xml" Id="R64c5121079524e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2b3fbe2db4930" /><Relationship Type="http://schemas.openxmlformats.org/officeDocument/2006/relationships/notesSlide" Target="/ppt/notesSlides/notesSlide20.xml" Id="R53061e3afff046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a2176177e4e21" /><Relationship Type="http://schemas.openxmlformats.org/officeDocument/2006/relationships/notesSlide" Target="/ppt/notesSlides/notesSlide21.xml" Id="Ra422e0e76e8743f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8d4ac880545e8" /><Relationship Type="http://schemas.openxmlformats.org/officeDocument/2006/relationships/notesSlide" Target="/ppt/notesSlides/notesSlide22.xml" Id="Rd50d3863073a40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2171af6224cb2" /><Relationship Type="http://schemas.openxmlformats.org/officeDocument/2006/relationships/notesSlide" Target="/ppt/notesSlides/notesSlide23.xml" Id="Rd176528e9ac44f3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d6e88c0354ff4" /><Relationship Type="http://schemas.openxmlformats.org/officeDocument/2006/relationships/notesSlide" Target="/ppt/notesSlides/notesSlide24.xml" Id="Rb513a96455804f8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fcbd560eb4891" /><Relationship Type="http://schemas.openxmlformats.org/officeDocument/2006/relationships/notesSlide" Target="/ppt/notesSlides/notesSlide25.xml" Id="Re8b2d70a4172405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e4b98ac8144fa" /><Relationship Type="http://schemas.openxmlformats.org/officeDocument/2006/relationships/notesSlide" Target="/ppt/notesSlides/notesSlide26.xml" Id="Rc5eaa66e3d354d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8b185c49d4d32" /><Relationship Type="http://schemas.openxmlformats.org/officeDocument/2006/relationships/notesSlide" Target="/ppt/notesSlides/notesSlide27.xml" Id="R55f09426cf3643a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6f49191624b62" /><Relationship Type="http://schemas.openxmlformats.org/officeDocument/2006/relationships/image" Target="/ppt/media/image4.png" Id="Rf1b686a945df4d6b" /><Relationship Type="http://schemas.openxmlformats.org/officeDocument/2006/relationships/notesSlide" Target="/ppt/notesSlides/notesSlide28.xml" Id="R47a81b12b6f5453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b4b6e9cc948d3" /><Relationship Type="http://schemas.openxmlformats.org/officeDocument/2006/relationships/notesSlide" Target="/ppt/notesSlides/notesSlide29.xml" Id="Ra65b6fb9c2aa46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40fb964df41ca" /><Relationship Type="http://schemas.openxmlformats.org/officeDocument/2006/relationships/notesSlide" Target="/ppt/notesSlides/notesSlide30.xml" Id="R1a8f203b9a134d3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70a741ca641ae" /><Relationship Type="http://schemas.openxmlformats.org/officeDocument/2006/relationships/notesSlide" Target="/ppt/notesSlides/notesSlide31.xml" Id="Rf40464ec9b2d449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81f7bc70048b2" /><Relationship Type="http://schemas.openxmlformats.org/officeDocument/2006/relationships/notesSlide" Target="/ppt/notesSlides/notesSlide32.xml" Id="Rdf1712f08e4f43d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847afc8804b9b" /><Relationship Type="http://schemas.openxmlformats.org/officeDocument/2006/relationships/notesSlide" Target="/ppt/notesSlides/notesSlide33.xml" Id="R22c330da57234ec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e3c3450d945c6" /><Relationship Type="http://schemas.openxmlformats.org/officeDocument/2006/relationships/notesSlide" Target="/ppt/notesSlides/notesSlide34.xml" Id="R71edf342ae37417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59629205a4bb0" /><Relationship Type="http://schemas.openxmlformats.org/officeDocument/2006/relationships/notesSlide" Target="/ppt/notesSlides/notesSlide35.xml" Id="Rf5134e3426964f9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3b0ed53f94b6b" /><Relationship Type="http://schemas.openxmlformats.org/officeDocument/2006/relationships/notesSlide" Target="/ppt/notesSlides/notesSlide36.xml" Id="R61a0839c936c427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fd8a871e649ed" /><Relationship Type="http://schemas.openxmlformats.org/officeDocument/2006/relationships/notesSlide" Target="/ppt/notesSlides/notesSlide37.xml" Id="R7a9976521cc34ca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5042be8744725" /><Relationship Type="http://schemas.openxmlformats.org/officeDocument/2006/relationships/notesSlide" Target="/ppt/notesSlides/notesSlide38.xml" Id="R638e8d25c3b24e3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1cdf95e464172" /><Relationship Type="http://schemas.openxmlformats.org/officeDocument/2006/relationships/notesSlide" Target="/ppt/notesSlides/notesSlide39.xml" Id="R4064fb0753e4469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ccd0475b14255" /><Relationship Type="http://schemas.openxmlformats.org/officeDocument/2006/relationships/notesSlide" Target="/ppt/notesSlides/notesSlide40.xml" Id="R7232d9b90faa44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E5F68F1-F44D-4A7F-9694-F577596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D9C202-7B04-4D48-99C5-D3E4E043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A84B96-EDF2-4948-8DF9-6EF2D042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34C761-BC8C-4175-98D0-BB061192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2D3EE"/>
                </a:solidFill>
              </a:rPr>
              <a:t>Apresentação do Programa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8E02CAE-2AC5-42D1-89E2-566702A8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Trabalho Final NoSQL · Grupo G12 · InfluxDB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7C3B72-8E67-4CBA-B916-20773C89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9339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AB8D5"/>
                </a:solidFill>
              </a:rPr>
              <a:t>Sistema de monitoramento ambiental de salas e laboratórios com sensores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E83B58-91A6-4967-B0C9-86979585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2120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Integrantes
</a:t>
            </a:r>
            <a:r>
              <a:rPr sz="1200">
                <a:solidFill>
                  <a:srgbClr val="DCEAFE"/>
                </a:solidFill>
              </a:rPr>
              <a:t>Lucas Gabriel Gomes Martins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Gabriel de Carvalho Souza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6AC79A-B6DE-4633-8B20-D17CB76B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8950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</a:rPr>
              <a:t>InfluxDB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90F5B5-EFBE-43EE-A3C5-B075C2DA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30098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Banco NoSQL Time Series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5277786-BF24-4312-8A89-B4923490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8950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0B981"/>
                </a:solidFill>
              </a:rPr>
              <a:t>Spring Boot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69CCD6-C107-47FD-80F0-855B4D70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0098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Aplicação Java 21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19043C8-12F4-4B0C-A080-978BA31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77640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BBF24"/>
                </a:solidFill>
              </a:rPr>
              <a:t>CRUD + Flux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67BDD1-68B6-4665-ACD1-5A627B86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8912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Consulta e demonstração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69C98A9-1877-438A-84DF-9448C08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34924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EAF2FF"/>
                </a:solidFill>
              </a:rPr>
              <a:t>Entrega organizada com Docker Compose, scripts do banco, consultas Flux, API REST e README.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AFC69E-E3D9-423E-8DA1-3ADAC651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4799515-1BF1-40B5-B809-A1072AB3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2752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2ECEFA-A4DE-4BA2-BE29-A96C050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04AB64-8F45-4CCE-B696-E78BB14B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59C92A7-632D-4E62-A189-E32490C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4F2D38-F0A2-46F4-BEDA-53D280D2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Objetivo do projeto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0DECB51-526B-443A-8B19-055EB289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O que o programa faz e por que ele foi escolhido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3EF0014-5833-4C38-A894-AFBBB508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619393-032E-43EA-9DB9-8CEA359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02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FACB09-42E8-4190-A5EA-BEEBB22D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548640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t">
            <a:norm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EAF2FF"/>
                </a:solidFill>
              </a:rPr>
              <a:t>Registrar leituras ambientais de sensores ao longo do tempo.</a:t>
            </a:r>
          </a:p>
          <a:p xmlns:a="http://schemas.openxmlformats.org/drawingml/2006/main">
            <a:r>
              <a:rPr sz="1600">
                <a:solidFill>
                  <a:srgbClr val="EAF2FF"/>
                </a:solidFill>
              </a:rPr>
              <a:t>Consultar dados por sensor, sala, status e período.</a:t>
            </a:r>
          </a:p>
          <a:p xmlns:a="http://schemas.openxmlformats.org/drawingml/2006/main">
            <a:r>
              <a:rPr sz="1600">
                <a:solidFill>
                  <a:srgbClr val="EAF2FF"/>
                </a:solidFill>
              </a:rPr>
              <a:t>Demonstrar CRUD completo em aplicação Java/Spring Boot.</a:t>
            </a:r>
          </a:p>
          <a:p xmlns:a="http://schemas.openxmlformats.org/drawingml/2006/main">
            <a:r>
              <a:rPr sz="1600">
                <a:solidFill>
                  <a:srgbClr val="EAF2FF"/>
                </a:solidFill>
              </a:rPr>
              <a:t>Implementar consultas equivalentes às exigidas para MongoDB usando Flux.</a:t>
            </a:r>
          </a:p>
          <a:p xmlns:a="http://schemas.openxmlformats.org/drawingml/2006/main">
            <a:r>
              <a:rPr sz="1600">
                <a:solidFill>
                  <a:srgbClr val="EAF2FF"/>
                </a:solidFill>
              </a:rPr>
              <a:t>Organizar scripts, código e instruções para execução em outra máquina.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1CE5552-9787-4107-838C-65863A78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50749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Tema escolhido
</a:t>
            </a:r>
            <a:r>
              <a:rPr sz="1200">
                <a:solidFill>
                  <a:srgbClr val="DCEAFE"/>
                </a:solidFill>
              </a:rPr>
              <a:t>Monitoramento ambiental de salas/laboratórios: temperatura, umidade, CO₂, bateria e status do sensor.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47C8020-E91B-417F-8450-E9D347B8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80360"/>
            <a:ext cx="50749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Banco sorteado
</a:t>
            </a:r>
            <a:r>
              <a:rPr sz="1200">
                <a:solidFill>
                  <a:srgbClr val="DCEAFE"/>
                </a:solidFill>
              </a:rPr>
              <a:t>Grupo G12 → InfluxDB → tipo Time Series.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E7E70A-AB3A-4320-8C26-EE86140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0749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Resultado
</a:t>
            </a:r>
            <a:r>
              <a:rPr sz="1200">
                <a:solidFill>
                  <a:srgbClr val="DCEAFE"/>
                </a:solidFill>
              </a:rPr>
              <a:t>Banco rodando em Docker + aplicação com API REST + consultas Flux testadas.</a:t>
            </a:r>
          </a:p>
        </p:txBody>
      </p:sp>
    </p:spTree>
    <p:extLst>
      <p:ext uri="{BB962C8B-B14F-4D97-AF65-F5344CB8AC3E}">
        <p14:creationId xmlns:p14="http://schemas.microsoft.com/office/powerpoint/2010/main" val="1133496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B52FBAD-DE59-40BA-8227-45F3958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B022C7-6D15-42F4-BABF-CA05FAD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666B01-5F1C-46CD-A68B-D4C16B7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8AB89A1-8B81-426D-98EC-BEEDFE50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Requisitos do trabalho atendidos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BEC8CE-90ED-41B1-9553-8DA2FF1B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Resumo do que foi pedido pelo professor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FB2250-7CC0-40B5-8551-399A9B49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AECC68C-21E7-4625-953B-04827E5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03</a:t>
            </a:r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8aab39d674a81"/>
          <a:srcRect xmlns:a="http://schemas.openxmlformats.org/drawingml/2006/main" l="0" t="4517" r="0" b="4517"/>
          <a:stretch xmlns:a="http://schemas.openxmlformats.org/drawingml/2006/main"/>
        </p:blipFill>
        <p:spPr>
          <a:xfrm xmlns:a="http://schemas.openxmlformats.org/drawingml/2006/main">
            <a:off x="594360" y="1234440"/>
            <a:ext cx="5715000" cy="438912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42F969-E69E-420A-90A9-B2A20A6A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48920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t">
            <a:normAutofit/>
          </a:bodyPr>
          <a:lstStyle xmlns:a="http://schemas.openxmlformats.org/drawingml/2006/main"/>
          <a:p xmlns:a="http://schemas.openxmlformats.org/drawingml/2006/main">
            <a:r>
              <a:rPr sz="1450">
                <a:solidFill>
                  <a:srgbClr val="EAF2FF"/>
                </a:solidFill>
              </a:rPr>
              <a:t>Banco instalado e executado em Docker.</a:t>
            </a:r>
          </a:p>
          <a:p xmlns:a="http://schemas.openxmlformats.org/drawingml/2006/main">
            <a:r>
              <a:rPr sz="1450">
                <a:solidFill>
                  <a:srgbClr val="EAF2FF"/>
                </a:solidFill>
              </a:rPr>
              <a:t>Conexão ativa demonstrada pelo InfluxDB Web.</a:t>
            </a:r>
          </a:p>
          <a:p xmlns:a="http://schemas.openxmlformats.org/drawingml/2006/main">
            <a:r>
              <a:rPr sz="1450">
                <a:solidFill>
                  <a:srgbClr val="EAF2FF"/>
                </a:solidFill>
              </a:rPr>
              <a:t>Inserção, consulta, atualização e remoção de dados.</a:t>
            </a:r>
          </a:p>
          <a:p xmlns:a="http://schemas.openxmlformats.org/drawingml/2006/main">
            <a:r>
              <a:rPr sz="1450">
                <a:solidFill>
                  <a:srgbClr val="EAF2FF"/>
                </a:solidFill>
              </a:rPr>
              <a:t>Consultas equivalentes: find, aggregate, $match, $project, $lookup, $unwind e $group.</a:t>
            </a:r>
          </a:p>
          <a:p xmlns:a="http://schemas.openxmlformats.org/drawingml/2006/main">
            <a:r>
              <a:rPr sz="1450">
                <a:solidFill>
                  <a:srgbClr val="EAF2FF"/>
                </a:solidFill>
              </a:rPr>
              <a:t>Aplicação completa com API REST.</a:t>
            </a:r>
          </a:p>
        </p:txBody>
      </p:sp>
    </p:spTree>
    <p:extLst>
      <p:ext uri="{BB962C8B-B14F-4D97-AF65-F5344CB8AC3E}">
        <p14:creationId xmlns:p14="http://schemas.microsoft.com/office/powerpoint/2010/main" val="2033368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8C4CCD5-07FE-4366-9E10-996F8E3C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AE4078A-E914-4BB8-8978-AA8090D8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CA84640-6D93-4D23-A669-644E57D9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1223D8-B92E-4A50-BFC0-CB72229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Banco do grupo G12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66DB32-87DC-44AF-8C1B-886AC59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O sorteio definiu o uso de InfluxDB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42D5D41-E5F0-4988-BB3E-3BD96634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5C9A6A-A0BB-4ADA-8774-4E6E94D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04</a:t>
            </a:r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cdc40fff746cc"/>
          <a:srcRect xmlns:a="http://schemas.openxmlformats.org/drawingml/2006/main" l="0" t="4912" r="0" b="4912"/>
          <a:stretch xmlns:a="http://schemas.openxmlformats.org/drawingml/2006/main"/>
        </p:blipFill>
        <p:spPr>
          <a:xfrm xmlns:a="http://schemas.openxmlformats.org/drawingml/2006/main">
            <a:off x="685800" y="1325880"/>
            <a:ext cx="7132320" cy="466344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4305740-8676-44F0-A8ED-2C293973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38328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Decisão correta
</a:t>
            </a:r>
            <a:r>
              <a:rPr sz="1200">
                <a:solidFill>
                  <a:srgbClr val="DCEAFE"/>
                </a:solidFill>
              </a:rPr>
              <a:t>Apesar do enunciado citar operações comuns do MongoDB, o grupo G12 recebeu InfluxDB. Por isso usamos equivalentes no Flux.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6104E3E-9760-479F-AFF9-5DC66C81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611880"/>
            <a:ext cx="33832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Tipo
</a:t>
            </a:r>
            <a:r>
              <a:rPr sz="1200">
                <a:solidFill>
                  <a:srgbClr val="DCEAFE"/>
                </a:solidFill>
              </a:rPr>
              <a:t>Time Series: ideal para dados com timestamp e monitoramento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374913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315939-612F-448F-95DB-3945A185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30B82E-09D2-4955-B16A-3F976A50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0E9BA7-490A-45B5-8080-87998239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E0661D-2239-47E9-94CE-527485F8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Modelo do sistema de sensores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808DF7-859C-4C60-9DDB-D938BCFF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Como o domínio foi representado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EEA542-DEFF-415E-A77D-53542B0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E6430F-F2C6-4C76-AA9D-3D3E98B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05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0FE0C9-52AD-4E5C-A041-88A17571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338328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Measurement principal
</a:t>
            </a:r>
            <a:r>
              <a:rPr sz="1200">
                <a:solidFill>
                  <a:srgbClr val="DCEAFE"/>
                </a:solidFill>
              </a:rPr>
              <a:t>sensor_reading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Guarda as leituras enviadas pelos sensores.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BA44C68-AC0F-4484-B472-4634BD7E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234440"/>
            <a:ext cx="338328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Measurement auxiliar
</a:t>
            </a:r>
            <a:r>
              <a:rPr sz="1200">
                <a:solidFill>
                  <a:srgbClr val="DCEAFE"/>
                </a:solidFill>
              </a:rPr>
              <a:t>sensor_info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Guarda metadados do sensor, como modelo e limites.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017EFC8-093A-40F2-9B67-1A64FDFB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4440"/>
            <a:ext cx="32004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Bucket
</a:t>
            </a:r>
            <a:r>
              <a:rPr sz="1200">
                <a:solidFill>
                  <a:srgbClr val="DCEAFE"/>
                </a:solidFill>
              </a:rPr>
              <a:t>monitoramento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Repositório principal dos dados temporais.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0EDD239-A7D4-437D-BFFB-A370F3A6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2D3EE"/>
                </a:solidFill>
              </a:rPr>
              <a:t>Exemplo de Line Protocol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B359DC1-FD31-408D-A46C-53EAEEF1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5808"/>
            <a:ext cx="108356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sensor_reading,sensorId=S01,room=LAB_A,type=environment,status=OK temperature=24.5,humidity=61.0,co2=520.0,battery=95i 1718604000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EDDF782-321A-4B9E-B496-0EB8A508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1960"/>
            <a:ext cx="19202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Parte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E306E55-6C67-4A8E-A843-43FF4BC4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251960"/>
            <a:ext cx="3017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Exemplo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8050F15-0402-4BC2-9EEE-A5546A5F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251960"/>
            <a:ext cx="58978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Função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6A07E85-1428-4ADD-B5D9-049292EC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856"/>
            <a:ext cx="19202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Measurement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25A0B9-1A7C-4056-965D-4C504B9D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562856"/>
            <a:ext cx="3017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sensor_reading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DDA26F9-85FC-4CC6-A350-74DD95B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562856"/>
            <a:ext cx="58978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Nome da série/medição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D0EA56-C3BF-44B4-AB93-C368F1A2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3752"/>
            <a:ext cx="19202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Tags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0B9B48A-7842-467F-83EE-8E88B993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873752"/>
            <a:ext cx="3017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sensorId, room, status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4AFB603-4C60-41CA-A9E9-383ACEA7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873752"/>
            <a:ext cx="58978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Filtro e agrupamento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E35936F-BF44-4995-B2EE-41526828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4648"/>
            <a:ext cx="19202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Fields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E241A9C-FC60-446B-9BDE-B6D8AAB0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184648"/>
            <a:ext cx="3017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temperature, humidity, co2, battery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59B0772-9347-4B8B-B128-BE6103B5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5184648"/>
            <a:ext cx="58978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Valores medidos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32FC960-6659-48D0-B7D4-A70EE899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544"/>
            <a:ext cx="19202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9D1799C-F01B-44BA-AF58-2CAD5F7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95544"/>
            <a:ext cx="3017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1718604000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BC58B27-3DCB-420B-8D0E-657B3411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5495544"/>
            <a:ext cx="58978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Momento da leitura</a:t>
            </a:r>
          </a:p>
        </p:txBody>
      </p:sp>
    </p:spTree>
    <p:extLst>
      <p:ext uri="{BB962C8B-B14F-4D97-AF65-F5344CB8AC3E}">
        <p14:creationId xmlns:p14="http://schemas.microsoft.com/office/powerpoint/2010/main" val="567436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8019067-10F8-4003-9BF2-D144B1CE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2EACC2-C577-462E-A2B7-BDA33C9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A5B4634-FC4D-439B-9332-EB821C12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864733-479C-4189-A937-D72C643F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Arquitetura do programa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675FF29-7716-44F9-9631-57AF9BA0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Fluxo completo entre usuário, aplicação e banco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462EFD-0CF1-47CE-A211-CF767EDD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8921A68-1BAC-4177-B8AA-7624B0DA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06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E2E1AC-E7A1-4BB7-AC84-99EB82C5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88036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2D3E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4961422-17B0-4684-A8F4-491E6A79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8036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2D3EE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914C2D-B01E-4452-953C-0734DFA0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88036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2D3E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75E94CE-15A0-40D4-BE8E-B40D8481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2011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/>
            </a:solidFill>
          </a:ln>
        </p:spPr>
        <p:txBody>
          <a:bodyPr xmlns:a="http://schemas.openxmlformats.org/drawingml/2006/main" wrap="square" lIns="1270" tIns="1270" rIns="1270" bIns="127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AF2FF"/>
                </a:solidFill>
              </a:rPr>
              <a:t>Postman / Navegador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A47F93-5BA5-47D8-B326-0EA6178F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331720"/>
            <a:ext cx="2011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/>
            </a:solidFill>
          </a:ln>
        </p:spPr>
        <p:txBody>
          <a:bodyPr xmlns:a="http://schemas.openxmlformats.org/drawingml/2006/main" wrap="square" lIns="1270" tIns="1270" rIns="1270" bIns="127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AF2FF"/>
                </a:solidFill>
              </a:rPr>
              <a:t>API REST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AF2FF"/>
                </a:solidFill>
              </a:rPr>
              <a:t>Spring Boot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226663F-E6FD-41A5-B0B0-F4BEF5E0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1720"/>
            <a:ext cx="2011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/>
            </a:solidFill>
          </a:ln>
        </p:spPr>
        <p:txBody>
          <a:bodyPr xmlns:a="http://schemas.openxmlformats.org/drawingml/2006/main" wrap="square" lIns="1270" tIns="1270" rIns="1270" bIns="127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AF2FF"/>
                </a:solidFill>
              </a:rPr>
              <a:t>Cliente Java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AF2FF"/>
                </a:solidFill>
              </a:rPr>
              <a:t>InfluxDB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77EBB53-EFED-4B6A-ACF3-67D14F6E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31720"/>
            <a:ext cx="2011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/>
            </a:solidFill>
          </a:ln>
        </p:spPr>
        <p:txBody>
          <a:bodyPr xmlns:a="http://schemas.openxmlformats.org/drawingml/2006/main" wrap="square" lIns="1270" tIns="1270" rIns="1270" bIns="127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AF2FF"/>
                </a:solidFill>
              </a:rPr>
              <a:t>InfluxDB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EAF2FF"/>
                </a:solidFill>
              </a:rPr>
              <a:t>Docker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ACDB47-D1A0-4C68-B7D2-E667207F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103327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t">
            <a:norm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EAF2FF"/>
                </a:solidFill>
              </a:rPr>
              <a:t>Docker Compose cria o banco, organização, bucket e token.</a:t>
            </a:r>
          </a:p>
          <a:p xmlns:a="http://schemas.openxmlformats.org/drawingml/2006/main">
            <a:r>
              <a:rPr sz="1420">
                <a:solidFill>
                  <a:srgbClr val="EAF2FF"/>
                </a:solidFill>
              </a:rPr>
              <a:t>Spring Boot expõe endpoints REST para CRUD.</a:t>
            </a:r>
          </a:p>
          <a:p xmlns:a="http://schemas.openxmlformats.org/drawingml/2006/main">
            <a:r>
              <a:rPr sz="1420">
                <a:solidFill>
                  <a:srgbClr val="EAF2FF"/>
                </a:solidFill>
              </a:rPr>
              <a:t>A aplicação usa a biblioteca influxdb-client-java.</a:t>
            </a:r>
          </a:p>
          <a:p xmlns:a="http://schemas.openxmlformats.org/drawingml/2006/main">
            <a:r>
              <a:rPr sz="1420">
                <a:solidFill>
                  <a:srgbClr val="EAF2FF"/>
                </a:solidFill>
              </a:rPr>
              <a:t>As consultas obrigatórias foram salvas em database/queries.</a:t>
            </a:r>
          </a:p>
        </p:txBody>
      </p:sp>
    </p:spTree>
    <p:extLst>
      <p:ext uri="{BB962C8B-B14F-4D97-AF65-F5344CB8AC3E}">
        <p14:creationId xmlns:p14="http://schemas.microsoft.com/office/powerpoint/2010/main" val="1423238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B2A4C1-4F34-40B7-B239-47AE401E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349A789-6DC8-47C1-B23D-46D7B380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1FC012-F52B-422B-8C45-214FF069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054E34D-5F34-496C-971A-E2B638ED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Estrutura final do projeto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4FF348-AF54-454E-8EB8-15C59B14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Tudo organizado para entrega e clonagem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F011C-9268-4C7D-8AB4-44A517B9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1A4B00C-42FC-49DE-9712-E2B9492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07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8E84A04-C2F4-4B01-9D0A-5FF8581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6492240" cy="4983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trabalho-final-g12-influxdb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├── README.md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├── database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├── docker-compose.yml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├── seed-data.lp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└── queries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├── 01-find.flux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├── 02-match.flux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├── 03-project.flux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├── 04-aggregate.flux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├── 05-group.flux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├── 06-lookup-join.flux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├── 07-unwind-equivalente.flux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├── 08-consulta-complexa-alertas.flux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    └── 09-consulta-complexa-salas-em-risco.flux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└── app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└── influxdb-app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├── pom.xml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├── mvnw.cmd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└── src/main/java/com/g12/influxdb_app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C3235CC-21C4-46C5-9A2E-A059BCCE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417320"/>
            <a:ext cx="379476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Entregáveis principais
</a:t>
            </a:r>
            <a:r>
              <a:rPr sz="1200">
                <a:solidFill>
                  <a:srgbClr val="DCEAFE"/>
                </a:solidFill>
              </a:rPr>
              <a:t>Código da aplicação, scripts do banco, consultas Flux, README e apresentação.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4AB05-7322-4FD9-BA23-6A0D6F61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063240"/>
            <a:ext cx="37947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Importante no Git
</a:t>
            </a:r>
            <a:r>
              <a:rPr sz="1200">
                <a:solidFill>
                  <a:srgbClr val="DCEAFE"/>
                </a:solidFill>
              </a:rPr>
              <a:t>Não enviar database/influxdb-data, database/influxdb-config nem target/.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79A39A-A0F2-4493-B723-E6174831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526280"/>
            <a:ext cx="37947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Reprodução
</a:t>
            </a:r>
            <a:r>
              <a:rPr sz="1200">
                <a:solidFill>
                  <a:srgbClr val="DCEAFE"/>
                </a:solidFill>
              </a:rPr>
              <a:t>Outro aluno consegue clonar, subir Docker, inserir seed e rodar a API.</a:t>
            </a:r>
          </a:p>
        </p:txBody>
      </p:sp>
    </p:spTree>
    <p:extLst>
      <p:ext uri="{BB962C8B-B14F-4D97-AF65-F5344CB8AC3E}">
        <p14:creationId xmlns:p14="http://schemas.microsoft.com/office/powerpoint/2010/main" val="1407173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305F649-A99B-4AAE-80E6-523D8E82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B20B5F-65A8-42E6-AD36-86266CBD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FC71B2-F59B-40CF-A01C-18C2EB8C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060896-E993-4E17-948B-16C4C3F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Script do banco: docker-compose.yml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ECBCCD-3A7F-4729-8C23-1E55FF9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Cria o InfluxDB de forma reproduzível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93DFFF-CB3E-4A33-B0F5-0046361C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C9AB7BB-FDC0-450E-8229-5AB9157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08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35BE78-3203-4FCC-A3CA-724AD24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7406640" cy="4983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services: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influxdb: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image: influxdb:2.7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container_name: g12-influxdb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ports: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- "8086:8086"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- ./influxdb-data:/var/lib/influxdb2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- ./influxdb-config:/etc/influxdb2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DOCKER_INFLUXDB_INIT_MODE: setup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DOCKER_INFLUXDB_INIT_USERNAME: admin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DOCKER_INFLUXDB_INIT_PASSWORD: Admin@12345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DOCKER_INFLUXDB_INIT_ORG: grupo12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DOCKER_INFLUXDB_INIT_BUCKET: monitoramento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DOCKER_INFLUXDB_INIT_ADMIN_TOKEN: g12-super-token-influxdb-2026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24D757-36E7-45C8-BCB0-0551DBF0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17320"/>
            <a:ext cx="30632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Comando usado
</a:t>
            </a:r>
            <a:r>
              <a:rPr sz="1200">
                <a:solidFill>
                  <a:srgbClr val="DCEAFE"/>
                </a:solidFill>
              </a:rPr>
              <a:t>cd database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docker compose up -d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559A1A0-E547-475E-8C66-D37F1703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788920"/>
            <a:ext cx="30632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O que ele cria
</a:t>
            </a:r>
            <a:r>
              <a:rPr sz="1200">
                <a:solidFill>
                  <a:srgbClr val="DCEAFE"/>
                </a:solidFill>
              </a:rPr>
              <a:t>Container g12-influxdb, porta 8086, org grupo12, bucket monitoramento e token de acesso.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547E08F-5AAB-4EB8-800E-FE31DA82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63440"/>
            <a:ext cx="30632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Por que usar Docker
</a:t>
            </a:r>
            <a:r>
              <a:rPr sz="1200">
                <a:solidFill>
                  <a:srgbClr val="DCEAFE"/>
                </a:solidFill>
              </a:rPr>
              <a:t>A entrega fica clara para o professor e reproduzível para o colega.</a:t>
            </a:r>
          </a:p>
        </p:txBody>
      </p:sp>
    </p:spTree>
    <p:extLst>
      <p:ext uri="{BB962C8B-B14F-4D97-AF65-F5344CB8AC3E}">
        <p14:creationId xmlns:p14="http://schemas.microsoft.com/office/powerpoint/2010/main" val="874488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FA79AD1-F141-48DE-81A0-16A59B5D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DABA038-5457-458D-B394-F70685BA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691284-F0EE-48F3-96B6-44D3C44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AA72A2-7CA4-4AC7-AF68-D176818F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Banco em execução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5AC973F-BAF4-4353-9B2B-25CEFDFA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Docker Desktop + InfluxDB Web funcionando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16B0CCA-F41B-465C-AA9C-421CA198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9D9F51F-9C68-41A3-B169-60864CA1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09</a:t>
            </a:r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2d19f6e95442f"/>
          <a:srcRect xmlns:a="http://schemas.openxmlformats.org/drawingml/2006/main" l="0" t="10651" r="0" b="10651"/>
          <a:stretch xmlns:a="http://schemas.openxmlformats.org/drawingml/2006/main"/>
        </p:blipFill>
        <p:spPr>
          <a:xfrm xmlns:a="http://schemas.openxmlformats.org/drawingml/2006/main">
            <a:off x="548640" y="1325880"/>
            <a:ext cx="11064240" cy="480060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D3FA38-91F2-4ADF-84CA-8AE995D1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3640"/>
            <a:ext cx="10789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AB8D5"/>
                </a:solidFill>
              </a:rPr>
              <a:t>Evidência: container g12-influxdb ativo e InfluxDB aberto no localhost:8086.</a:t>
            </a:r>
          </a:p>
        </p:txBody>
      </p:sp>
    </p:spTree>
    <p:extLst>
      <p:ext uri="{BB962C8B-B14F-4D97-AF65-F5344CB8AC3E}">
        <p14:creationId xmlns:p14="http://schemas.microsoft.com/office/powerpoint/2010/main" val="1786562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5662338-AD91-461F-BB58-3C8BF4A2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4CADCFC-6BDD-4EF6-B48E-4F9CD48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53F0DA-3EA5-42E7-B3A2-8E4C6173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F4A6F4-421B-4796-A074-D0714E15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Seed inicial e comandos de inserção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BE2B381-5493-4875-BAAD-B00539A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Dados fictícios usados para testar consultas e CRUD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797247-015E-4784-9C20-A1AE1839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F264369-4770-4BDB-B7E0-6A86E291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10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3CCAF3-EFEE-4EA8-BDFF-0A26B483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08356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seed-data.lp (exemplo)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sensor_reading,sensorId=S01,room=LAB_A,type=environment,status=OK temperature=24.5,humidity=61.0,co2=520.0,battery=95i 1718604000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sensor_info,sensorId=S01,room=LAB_A,model=DHT22 threshold_temp=28.0,threshold_co2=1000.0 1718604000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comandos usados no terminal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docker cp seed-data.lp g12-influxdb:/tmp/seed-data.lp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docker exec g12-influxdb sh -c "tr -d '
' &lt; /tmp/seed-data.lp &gt; /tmp/seed-data-clean.lp"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docker exec g12-influxdb influx write --bucket monitoramento --org grupo12 --token g12-super-token-influxdb-2026 --precision s --file /tmp/seed-data-clean.lp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5BC9D6-1996-445A-BC56-559D22E4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01168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Dado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3B9297-14DB-44AD-A202-8290DD3B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5257800"/>
            <a:ext cx="88239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Exemplos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90CCCF6-4A47-4E58-8EE1-40FD80B9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8968"/>
            <a:ext cx="201168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Sensores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19B07AA-8D6C-4CFE-B510-F8EE808E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5458968"/>
            <a:ext cx="88239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S01, S02, S03, S04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CF50D6-3822-4FCD-A138-3A3797A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0136"/>
            <a:ext cx="201168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Salas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0068794-C695-4BF3-93F1-117DF57B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5660136"/>
            <a:ext cx="88239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LAB_A, LAB_B, SALA_101, SALA_102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4EF0838-5B09-4824-8B5E-C65DFBF8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1304"/>
            <a:ext cx="201168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Campos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8CD50B-55CE-45F9-BD64-EBFCA9AA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5861304"/>
            <a:ext cx="88239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temperature, humidity, co2, battery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3B15D88-77E5-4ED3-8D46-1ADE9CF6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2472"/>
            <a:ext cx="201168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478E492-675C-48DD-8E58-10C38C54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062472"/>
            <a:ext cx="88239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EAF2FF"/>
                </a:solidFill>
                <a:latin typeface="Aptos"/>
                <a:ea typeface="Aptos"/>
                <a:cs typeface="Aptos"/>
              </a:rPr>
              <a:t>OK, ALERT</a:t>
            </a:r>
          </a:p>
        </p:txBody>
      </p:sp>
    </p:spTree>
    <p:extLst>
      <p:ext uri="{BB962C8B-B14F-4D97-AF65-F5344CB8AC3E}">
        <p14:creationId xmlns:p14="http://schemas.microsoft.com/office/powerpoint/2010/main" val="2044793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2A53AB-DC3F-460A-8384-BFB8D749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D413EFA-AA70-4A77-AFED-AB5C3158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08E5E7B-C546-482C-9A0C-0A424E6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11FBD9-85CA-46B0-AD74-DA25B974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Dados conferidos no InfluxDB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E95AC22-7989-43B5-9934-B6722DDB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Raw Data mostra as leituras inseridas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0AF2FBC-972D-4FAE-998F-2165033F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06EAA41-8ED8-4424-90CC-9147D821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11</a:t>
            </a:r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eaac1cf7b4000"/>
          <a:srcRect xmlns:a="http://schemas.openxmlformats.org/drawingml/2006/main" l="630" t="0" r="630" b="0"/>
          <a:stretch xmlns:a="http://schemas.openxmlformats.org/drawingml/2006/main"/>
        </p:blipFill>
        <p:spPr>
          <a:xfrm xmlns:a="http://schemas.openxmlformats.org/drawingml/2006/main">
            <a:off x="594360" y="1325880"/>
            <a:ext cx="109728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44089E7-C5DA-4FC9-A87D-F0DB2716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10332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t">
            <a:norm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EAF2FF"/>
                </a:solidFill>
              </a:rPr>
              <a:t>Cada métrica aparece em uma linha separada por _field e _value.</a:t>
            </a:r>
          </a:p>
          <a:p xmlns:a="http://schemas.openxmlformats.org/drawingml/2006/main">
            <a:r>
              <a:rPr sz="1350">
                <a:solidFill>
                  <a:srgbClr val="EAF2FF"/>
                </a:solidFill>
              </a:rPr>
              <a:t>As tags aparecem como colunas: sensorId, room, status e type.</a:t>
            </a:r>
          </a:p>
          <a:p xmlns:a="http://schemas.openxmlformats.org/drawingml/2006/main">
            <a:r>
              <a:rPr sz="1350">
                <a:solidFill>
                  <a:srgbClr val="EAF2FF"/>
                </a:solidFill>
              </a:rPr>
              <a:t>Essa visualização confirma que o seed foi gravado corretamente.</a:t>
            </a:r>
          </a:p>
        </p:txBody>
      </p:sp>
    </p:spTree>
    <p:extLst>
      <p:ext uri="{BB962C8B-B14F-4D97-AF65-F5344CB8AC3E}">
        <p14:creationId xmlns:p14="http://schemas.microsoft.com/office/powerpoint/2010/main" val="1790622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E925A8-16B2-4129-895B-274D711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0DC509A-DCA5-4734-86E0-8B6CBF8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84D63CB-AADB-4BEF-BEE2-A34EA5E3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7D7E410-D262-4B33-8C79-A0BFB39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Consultas obrigatórias: equivalência no InfluxDB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B3D9D7-42BF-417D-8330-1F3ECA0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Como os requisitos do MongoDB foram adaptados para Flux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C58D0B-F161-4FD5-A3E3-F6BE031C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5FD85C9-C407-4D76-A0CB-3DAA81C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12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608C43-4A63-42E3-AB85-4E57DDC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Requisito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F876A1-20AC-4A72-A0BE-69D5013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23444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Equivalente em Flux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7620995-9AD8-4CF3-8F48-DA3F9B5A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23444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Arquivo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C6827DB-0AB2-4F61-BC3C-0B6AF6EC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848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832456-3FE9-4367-8992-C4CAAC38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80848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from() + range() + filter()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BE81C68-1172-43C2-9436-A7EC2F1C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80848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01-find.flux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B6964A-02AF-4E8C-9945-D6785B80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252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$match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3B51D55-88EA-4FAC-A626-DB85A5EE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38252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filter()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0D9470A-B176-4912-BCE7-B30D7D0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38252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02-match.flux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1AE825-1B0A-40C4-8590-1FF6A5DD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656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$project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F67D1D-C1AD-46BC-B7B1-4C1F9E5D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95656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keep()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029E603-DD86-4175-B89A-9B6452F2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95656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03-project.flux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CA32BF3-17EF-4716-8693-F355746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060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aggregate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C65E5F4-C1FB-4922-B39F-3CB01C1F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53060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mean()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22A181D-6EBC-4B67-9676-05EE6205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53060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04-aggregate.flux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11178AB-D429-43C1-834B-1144A465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464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$group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C2AF5C6-C7CC-462E-B211-1D7BC9FF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10464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group(columns: ["room"]) + mean()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8C470C1-BFBE-44BD-8043-4050E899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0464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05-group.flux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4B8B3DF-457C-40FD-85C2-53A87418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868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$lookup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344AF82-6195-4AC8-BF45-43B1DB55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67868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join() entre streams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D13C56-C52D-4278-912C-6859002D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67868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06-lookup-join.flux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2CD399D-4C2B-48F5-954C-CDF7F2D6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272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$unwind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42A84AF-C97A-4277-AFE5-DCF7FC43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25272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_field e _value em formato longo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2C89F1C-D361-40BB-80D6-7A20AAA6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25272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07-unwind-equivalente.flux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2ED6F4E-84FD-4B36-A87C-E5B3B578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6760"/>
            <a:ext cx="192024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Consultas complexas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FE28E6C-E4D0-4888-88D0-9187A8E2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826760"/>
            <a:ext cx="59436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pivot(), map(), filter(), sort()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A58168F-0111-4DB2-8E9F-9B22B612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826760"/>
            <a:ext cx="29718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08 e 09</a:t>
            </a:r>
          </a:p>
        </p:txBody>
      </p:sp>
    </p:spTree>
    <p:extLst>
      <p:ext uri="{BB962C8B-B14F-4D97-AF65-F5344CB8AC3E}">
        <p14:creationId xmlns:p14="http://schemas.microsoft.com/office/powerpoint/2010/main" val="12149336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7EAA38-4732-4A27-8DA9-E14A2A03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A4ECE0B-F7D4-4D4C-817D-40952EF9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E73DFB9-0377-4DAB-A47F-8632F11E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5FFC11-9FEA-4EAA-B5E1-E1EB1B5F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01-find.flux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7E65011-EFE0-475C-B21D-7A0CA78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Busca geral das leituras de sensores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4BA4E0-530F-4AF8-B7D7-01261300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45037F7-519E-45A6-8DAF-81D12AE2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13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66BEFDE-06F1-4AE2-9D6B-E6785C12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108356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r._measurement == "sensor_reading")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436E8A5-D69B-4DAF-90BF-085E14CA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5029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Resultado esperado
</a:t>
            </a:r>
            <a:r>
              <a:rPr sz="1200">
                <a:solidFill>
                  <a:srgbClr val="DCEAFE"/>
                </a:solidFill>
              </a:rPr>
              <a:t>Retorna todas as leituras da measurement sensor_reading no período definido.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978823-3E55-4BF5-B973-6FCC8D8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00400"/>
            <a:ext cx="5029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Equivalência
</a:t>
            </a:r>
            <a:r>
              <a:rPr sz="1200">
                <a:solidFill>
                  <a:srgbClr val="DCEAFE"/>
                </a:solidFill>
              </a:rPr>
              <a:t>No MongoDB seria semelhante a db.sensor_reading.find().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5526561-0E81-4FD9-92C7-1C0ED48E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7492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</a:rPr>
              <a:t>find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079FB2-0747-46BB-8DB6-AE4231A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Consulta simples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07F6F78-5282-410F-ABB4-8EB5476F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07492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BBF24"/>
                </a:solidFill>
              </a:rPr>
              <a:t>range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7B9875B-0B20-4951-B417-4BCDDAF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4864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Filtro temporal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0E58FA4-7DC5-40A6-B978-FC3138D7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7492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0B981"/>
                </a:solidFill>
              </a:rPr>
              <a:t>filter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0E011B6-F67B-4E30-A5EE-2D2F318F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4864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Measurement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1E7864-9F23-4615-A4F7-2C47D80F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507492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</a:rPr>
              <a:t>tested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DFBDB01-C543-45DD-853B-507311C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54864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Funcionando</a:t>
            </a:r>
          </a:p>
        </p:txBody>
      </p:sp>
    </p:spTree>
    <p:extLst>
      <p:ext uri="{BB962C8B-B14F-4D97-AF65-F5344CB8AC3E}">
        <p14:creationId xmlns:p14="http://schemas.microsoft.com/office/powerpoint/2010/main" val="9573335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4924FA-31FE-4680-B483-3060B71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6B8BA9-6DC7-45C7-94F1-66AE1E9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F7A708-7052-4192-8D1A-3F23939F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6AF2424-3191-435B-AF9B-B2F356D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02-match.flux e 03-project.flux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64DCDC-60DD-4B90-A78D-9C722124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Filtros e seleção de colunas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98A2D61-B4FE-43C6-9B59-89B8125D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664CAF-3A4A-467B-A375-4F601437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14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DEF4A6-9FB9-447A-B248-A05C9801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44068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// 02-match.flux</a:t>
            </a:r>
          </a:p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r.room == "LAB_A")</a:t>
            </a:r>
          </a:p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r.status == "ALERT")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A5A22D-B88E-48AB-A7C8-67E54886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4440"/>
            <a:ext cx="534924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// 03-project.flux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keep(columns: ["_time", "_measurement", "_field", "_value", "sensorId", "room", "status"])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FE40351-B254-4F16-BDB1-89FA04E7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150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AB8D5"/>
                </a:solidFill>
              </a:rPr>
              <a:t>$match filtra por LAB_A e ALERT; $project mantém só as colunas relevantes.</a:t>
            </a:r>
          </a:p>
        </p:txBody>
      </p:sp>
    </p:spTree>
    <p:extLst>
      <p:ext uri="{BB962C8B-B14F-4D97-AF65-F5344CB8AC3E}">
        <p14:creationId xmlns:p14="http://schemas.microsoft.com/office/powerpoint/2010/main" val="4785382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68E85E-6F7A-49F7-A39B-0EA4AC8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674108-84DD-4513-AC45-28C6511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AB58260-BAB9-4BC0-A802-8BE4D91D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C07203C-B46D-42C7-B84D-8FD4A7B2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04-aggregate.flux e 05-group.flux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A9B412-D9E5-4D7B-8D6B-3E2172B1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Média geral e média por sala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7D13E71-C250-41A0-B6A5-F2990B73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7AF56B-FEF2-4F16-838F-9B5F3E0F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15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59116F-CB15-4948-9BEC-CD4B0F23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44068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// 04-aggregate.flux</a:t>
            </a:r>
          </a:p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r._field == "temperature")</a:t>
            </a:r>
          </a:p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mean()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8D0761-A650-454A-971A-DA9F0397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4440"/>
            <a:ext cx="5349240" cy="425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// 05-group.flux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r._field == "temperature")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group(columns: ["room"])</a:t>
            </a:r>
          </a:p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mean()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D30A0A0-5AA5-47E0-B1B9-3E32A97A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69280"/>
            <a:ext cx="110185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Consulta complexa de análise
</a:t>
            </a:r>
            <a:r>
              <a:rPr sz="1200">
                <a:solidFill>
                  <a:srgbClr val="DCEAFE"/>
                </a:solidFill>
              </a:rPr>
              <a:t>O group calcula média de temperatura por sala: LAB_A, LAB_B, SALA_101 e SALA_102.</a:t>
            </a:r>
          </a:p>
        </p:txBody>
      </p:sp>
    </p:spTree>
    <p:extLst>
      <p:ext uri="{BB962C8B-B14F-4D97-AF65-F5344CB8AC3E}">
        <p14:creationId xmlns:p14="http://schemas.microsoft.com/office/powerpoint/2010/main" val="2838587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06C0FF-C54B-4E7D-96AD-96330683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E3F621-D963-495C-8F05-1A8D9879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A633D74-BF9A-48C8-917A-F48AE603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90C5EF-1D6A-4665-A89D-8E87EF2B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Resultado do $group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532776-7D5F-4BF5-9270-6969F82A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Média de temperatura retornada por sala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8F2ACF-0921-438C-AFBC-0A943C83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0320907-6B2B-48BC-A4FC-6E59B22A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16</a:t>
            </a:r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ce7d1ef444329"/>
          <a:srcRect xmlns:a="http://schemas.openxmlformats.org/drawingml/2006/main" l="5891" t="0" r="5891" b="0"/>
          <a:stretch xmlns:a="http://schemas.openxmlformats.org/drawingml/2006/main"/>
        </p:blipFill>
        <p:spPr>
          <a:xfrm xmlns:a="http://schemas.openxmlformats.org/drawingml/2006/main">
            <a:off x="548640" y="1234440"/>
            <a:ext cx="11064240" cy="210312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2AFF70-D46A-4A94-87E5-E0F8DC6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977640"/>
            <a:ext cx="29260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Sala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747B36F-9AE3-4E5F-83E6-3E3F0DAD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977640"/>
            <a:ext cx="530352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Média aproximada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8FD435-0D59-43D1-99BA-DEDB7E7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315968"/>
            <a:ext cx="29260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LAB_A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D1B124-D5CD-4EF6-A563-00E2B49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315968"/>
            <a:ext cx="530352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26.33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9EF0B95-27E1-4F2C-B4D3-2E3D8523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654296"/>
            <a:ext cx="29260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LAB_B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01E2321-4CBD-4B35-894A-B5FCF629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654296"/>
            <a:ext cx="530352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24.97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B48E354-42D7-4C4F-B3FB-140D59B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992624"/>
            <a:ext cx="29260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SALA_101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1D4D2AC-80C3-4785-AFA4-B06D2675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992624"/>
            <a:ext cx="530352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22.63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265C9B0-0F7A-4560-B46F-D62DD4AC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330952"/>
            <a:ext cx="29260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SALA_102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45DA0AA-71EF-47CF-A697-15E4E749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330952"/>
            <a:ext cx="530352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aparece na página 2 do resultado</a:t>
            </a:r>
          </a:p>
        </p:txBody>
      </p:sp>
    </p:spTree>
    <p:extLst>
      <p:ext uri="{BB962C8B-B14F-4D97-AF65-F5344CB8AC3E}">
        <p14:creationId xmlns:p14="http://schemas.microsoft.com/office/powerpoint/2010/main" val="7029834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00FBE3E-AAA5-4462-BCD8-DCA97F76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8C61767-F945-4824-998A-731CDF6D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EC07C8-CE16-4C40-A696-0F5FE0DA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4FF072-9EF7-4554-A5F1-CA066694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06-lookup-join.flux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88EAB6-DE27-4976-9C02-7B4C369C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Equivalente ao $lookup com join()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98A70DA-02FC-43DF-9DB5-E7A4B87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30E5927-D353-418D-BCCD-F252B9B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17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B88807A-AF60-4846-9FE4-67305D5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80160"/>
            <a:ext cx="7955280" cy="4983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leituras =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filter(fn: (r) =&gt; r._field == "temperature")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keep(columns: ["_time", "sensorId", "room", "_value"])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rename(columns: {_value: "temperature"})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group(columns: ["sensorId"])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sensores =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filter(fn: (r) =&gt; r._measurement == "sensor_info")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filter(fn: (r) =&gt; r._field == "threshold_temp")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keep(columns: ["sensorId", "model", "_value"])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rename(columns: {_value: "threshold_temp"})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|&gt; group(columns: ["sensorId"])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join(tables: {leituras: leituras, sensores: sensores}, on: ["sensorId"])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FB8BE8-090D-4C6F-BFA3-A7E7EB6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417320"/>
            <a:ext cx="26060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O que junta
</a:t>
            </a:r>
            <a:r>
              <a:rPr sz="1200">
                <a:solidFill>
                  <a:srgbClr val="DCEAFE"/>
                </a:solidFill>
              </a:rPr>
              <a:t>sensor_reading + sensor_info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93D61D8-9F3A-4BF5-AED6-2A1539C8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60320"/>
            <a:ext cx="26060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Campo em comum
</a:t>
            </a:r>
            <a:r>
              <a:rPr sz="1200">
                <a:solidFill>
                  <a:srgbClr val="DCEAFE"/>
                </a:solidFill>
              </a:rPr>
              <a:t>sensorId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9DDEFF-E8AE-4926-88CE-F63DD425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611880"/>
            <a:ext cx="260604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Resultado
</a:t>
            </a:r>
            <a:r>
              <a:rPr sz="1200">
                <a:solidFill>
                  <a:srgbClr val="DCEAFE"/>
                </a:solidFill>
              </a:rPr>
              <a:t>Temperatura da leitura + modelo/limite do sensor.</a:t>
            </a:r>
          </a:p>
        </p:txBody>
      </p:sp>
    </p:spTree>
    <p:extLst>
      <p:ext uri="{BB962C8B-B14F-4D97-AF65-F5344CB8AC3E}">
        <p14:creationId xmlns:p14="http://schemas.microsoft.com/office/powerpoint/2010/main" val="21130937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EF3855-9CED-44EC-9EED-E3962E64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29DFF5-EB34-48E7-BF7A-52D2D8ED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CD0D066-97E0-4923-937A-66B9DA0E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E59262F-1E2E-4992-AD84-E44AAABE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07-unwind-equivalente.flux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5CBA46-A83D-44D1-8F4E-F12DA971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Como representamos o $unwind em séries temporais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51914AC-C1B2-4D28-80EF-DBB9B3CF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5F5F90-7BEB-4F85-8A12-F800E6A8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18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4D47C60-6662-44F7-B9FF-5DB40187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1083564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r._field == "temperature" or r._field == "humidity" or r._field == "co2" or r._field == "battery")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keep(columns: ["_time", "sensorId", "room", "status", "_field", "_value"])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1990BB1-73DA-4094-AD2E-7443B6F5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23774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_field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C46554-6147-4C59-8236-04B8D95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97764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_value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B8D7EDF-ABF7-4AE1-997E-31B6675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977640"/>
            <a:ext cx="61722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Ideia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46F83FA-4C4F-4BC3-BFA7-AF7075E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0"/>
            <a:ext cx="23774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23657E-0380-4931-ABFC-EDE80EE5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9768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24.5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E738CC0-29C2-4E6B-8F6C-0DD66FBD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4297680"/>
            <a:ext cx="61722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cada métrica vira linha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2ECDBE8-C6A0-4593-9082-C80293AF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23774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humidity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81DEE4-B2D9-4EA5-AA3F-E0D24552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61772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50CE7BE-D9FC-484C-9194-BB574EB0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4617720"/>
            <a:ext cx="61722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formato longo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6157558-06DF-4974-89C6-D799EEAA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7760"/>
            <a:ext cx="23774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co2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2492049-C1AE-4908-9E9D-ED46815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93776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520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8E71D71-8AB7-48B4-8836-FF18931E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4937760"/>
            <a:ext cx="61722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equivalente ao unwind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F937E01-2DDA-4966-8D36-CA8DB226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23774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battery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0FAD6ED-1F06-430D-B045-261A58D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25780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F0D0593-B779-4D7A-A758-2B04F701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257800"/>
            <a:ext cx="61722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sem array explícito</a:t>
            </a:r>
          </a:p>
        </p:txBody>
      </p:sp>
    </p:spTree>
    <p:extLst>
      <p:ext uri="{BB962C8B-B14F-4D97-AF65-F5344CB8AC3E}">
        <p14:creationId xmlns:p14="http://schemas.microsoft.com/office/powerpoint/2010/main" val="16404716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E10C553-512A-4731-A363-B5EAC51B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2BDEBDC-8632-4AF8-895F-81878EC9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0C0ACFC-FB9E-45B4-88C3-89143806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4479EE-BC08-4E21-B864-3D9B2942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08-consulta-complexa-alertas.flux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66B122-9F85-4A53-BDF9-32589959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Classificação automática NORMAL / ATENCAO / CRITICO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D8AFD2-D73D-4FF3-B71D-9F63ED5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076339-3351-44EB-A735-97A1BC39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19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02FC6AA-52AD-4F52-82ED-69D79671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88720"/>
            <a:ext cx="7772400" cy="5166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r._field == "temperature" or r._field == "co2")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pivot(rowKey: ["_time", "sensorId", "room", "status"], columnKey: ["_field"], valueColumn: "_value")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map(fn: (r) =&gt; ({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r with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alert_level: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if r.temperature &gt;= 30.0 or r.co2 &gt;= 1200.0 then "CRITICO"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else if r.temperature &gt;= 28.0 or r.co2 &gt;= 1000.0 then "ATENCAO"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else "NORMAL"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}))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3A76D5-E466-4905-9FFF-2856DFB6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417320"/>
            <a:ext cx="26974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Técnicas usadas
</a:t>
            </a:r>
            <a:r>
              <a:rPr sz="1200">
                <a:solidFill>
                  <a:srgbClr val="DCEAFE"/>
                </a:solidFill>
              </a:rPr>
              <a:t>filter()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pivot()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map()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if/else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AB093D3-5E9F-4AAF-9191-DD75CE55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154680"/>
            <a:ext cx="26974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Regra de negócio
</a:t>
            </a:r>
            <a:r>
              <a:rPr sz="1200">
                <a:solidFill>
                  <a:srgbClr val="DCEAFE"/>
                </a:solidFill>
              </a:rPr>
              <a:t>Temperatura ≥ 30 ou CO₂ ≥ 1200 → CRITICO.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Temperatura ≥ 28 ou CO₂ ≥ 1000 → ATENCAO.</a:t>
            </a:r>
          </a:p>
        </p:txBody>
      </p:sp>
    </p:spTree>
    <p:extLst>
      <p:ext uri="{BB962C8B-B14F-4D97-AF65-F5344CB8AC3E}">
        <p14:creationId xmlns:p14="http://schemas.microsoft.com/office/powerpoint/2010/main" val="2025354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46D2CB-A28E-4FAA-ACE3-2A6ADCC8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37B16C-B59E-4B61-A580-28682429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053FF74-3703-42F1-A75F-A0D08A8B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E065BE-19E5-40A1-B051-08E8FC6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09-consulta-complexa-salas-em-risco.flux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C72BEE-35B9-45AA-B296-EFF02CE0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Relatório final de salas em atenção ou crítico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7D9896-BCC6-48A3-B270-171C237B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A37F64D-94AC-48B4-BA39-5BF604B9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20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58C936B-B3AA-4D00-ACBD-0CBCEEF6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80160"/>
            <a:ext cx="795528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from(bucket: "monitoramento")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range(start: 2024-06-17T00:00:00Z, stop: 2024-06-18T00:00:00Z)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r._field == "temperature" or r._field == "co2")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pivot(rowKey: ["_time", "sensorId", "room", "status"], columnKey: ["_field"], valueColumn: "_value")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map(fn: (r) =&gt; ({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r with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alert_level: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if r.temperature &gt;= 30.0 or r.co2 &gt;= 1200.0 then "CRITICO"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else if r.temperature &gt;= 28.0 or r.co2 &gt;= 1000.0 then "ATENCAO"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else "NORMAL"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}))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filter(fn: (r) =&gt; r.alert_level != "NORMAL")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keep(columns: ["_time", "sensorId", "room", "temperature", "co2", "status", "alert_level"])</a:t>
            </a:r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|&gt; sort(columns: ["_time"])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44D54DA-AAEF-460C-A934-5CBDC0DF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417320"/>
            <a:ext cx="26060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Objetivo
</a:t>
            </a:r>
            <a:r>
              <a:rPr sz="1200">
                <a:solidFill>
                  <a:srgbClr val="DCEAFE"/>
                </a:solidFill>
              </a:rPr>
              <a:t>Mostrar apenas registros que precisam de ação.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4B7F3D2-29D9-44EA-8901-EE4B8CB4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606040"/>
            <a:ext cx="260604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Saída esperada
</a:t>
            </a:r>
            <a:r>
              <a:rPr sz="1200">
                <a:solidFill>
                  <a:srgbClr val="DCEAFE"/>
                </a:solidFill>
              </a:rPr>
              <a:t>sensorId, room, temperature, co2, status e alert_level.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6CFFED8-D201-46B2-9716-9D058B28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069080"/>
            <a:ext cx="260604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Por que é forte
</a:t>
            </a:r>
            <a:r>
              <a:rPr sz="1200">
                <a:solidFill>
                  <a:srgbClr val="DCEAFE"/>
                </a:solidFill>
              </a:rPr>
              <a:t>Mostra transformação + regra de negócio + relatório filtrado.</a:t>
            </a:r>
          </a:p>
        </p:txBody>
      </p:sp>
    </p:spTree>
    <p:extLst>
      <p:ext uri="{BB962C8B-B14F-4D97-AF65-F5344CB8AC3E}">
        <p14:creationId xmlns:p14="http://schemas.microsoft.com/office/powerpoint/2010/main" val="16053958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B55B8EC-00F6-43D3-81BD-30BD44A5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AE95434-1E25-4950-BFA4-B430BF84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58EE6BB-B619-40F6-A107-DD712CF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234D25F-9DF4-454E-BE8B-1B753F07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Aplicação Spring Boot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4765581-3ABD-4DC1-A894-5C5A0E1B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Estrutura do código Java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79EB293-D143-4D2B-920B-370F6E43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170AA6-28E7-48F6-86CC-C77AF0CF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C0BC137-6A89-4BB7-B090-7EF21AC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5349240" cy="489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src/main/java/com/g12/influxdb_app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├── InfluxdbAppApplication.java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├── config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└── InfluxDBConfig.java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├── controller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└── ReadingController.java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├── dto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├── ReadingRequest.java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│   └── ReadingResponse.java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└── service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└── ReadingService.java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src/main/resources</a:t>
            </a:r>
          </a:p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└── application.properties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6980BED-C91B-43B7-94F4-F8FF1C2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17320"/>
            <a:ext cx="498348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Papel das camadas
</a:t>
            </a:r>
            <a:r>
              <a:rPr sz="1200">
                <a:solidFill>
                  <a:srgbClr val="DCEAFE"/>
                </a:solidFill>
              </a:rPr>
              <a:t>controller recebe requisições; service contém a lógica; dto padroniza entrada/saída; config cria conexão com InfluxDB.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BAD2614-77D2-4FC8-9C24-36DA49F9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246120"/>
            <a:ext cx="49834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Correção feita
</a:t>
            </a:r>
            <a:r>
              <a:rPr sz="1200">
                <a:solidFill>
                  <a:srgbClr val="DCEAFE"/>
                </a:solidFill>
              </a:rPr>
              <a:t>As classes precisaram ficar dentro de src/main/java/com/g12/influxdb_app para entrarem no classpath do Spring.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03C4735-CD22-4392-AEA7-C183BBBF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892040"/>
            <a:ext cx="49834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Porta da API
</a:t>
            </a:r>
            <a:r>
              <a:rPr sz="1200">
                <a:solidFill>
                  <a:srgbClr val="DCEAFE"/>
                </a:solidFill>
              </a:rPr>
              <a:t>http://localhost:8080/api/readings</a:t>
            </a:r>
          </a:p>
        </p:txBody>
      </p:sp>
    </p:spTree>
    <p:extLst>
      <p:ext uri="{BB962C8B-B14F-4D97-AF65-F5344CB8AC3E}">
        <p14:creationId xmlns:p14="http://schemas.microsoft.com/office/powerpoint/2010/main" val="20180539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12244-4367-433E-ADE7-1ED2C1F5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B10DE80-CCEE-4799-8CFE-C509076B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545D942-79EE-4653-A77D-7B8AD38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326FB5A-E7DB-4645-8266-209E352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Configuração da aplicação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EF2493-A910-456D-90A5-B1D9FFFE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pom.xml e application.properties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D848B18-97E7-48F3-BF5B-E286AB0C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A23835-5549-4C89-8982-E5C658D4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22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DFA3FA3-813B-41F7-8D88-B4A980C1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66928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&lt;!-- pom.xml: dependências principais --&gt;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&lt;dependency&gt;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&lt;groupId&gt;org.springframework.boot&lt;/groupId&gt;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&lt;artifactId&gt;spring-boot-starter-webmvc&lt;/artifactId&gt;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&lt;/dependency&gt;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&lt;dependency&gt;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&lt;groupId&gt;org.springframework.boot&lt;/groupId&gt;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&lt;artifactId&gt;spring-boot-starter-validation&lt;/artifactId&gt;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&lt;/dependency&gt;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&lt;dependency&gt;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&lt;groupId&gt;com.influxdb&lt;/groupId&gt;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&lt;artifactId&gt;influxdb-client-java&lt;/artifactId&gt;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&lt;version&gt;8.0.0&lt;/version&gt;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&lt;/dependency&gt;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1B8D8F-D6FC-4358-BCE7-597B8FD6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234440"/>
            <a:ext cx="516636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application.properties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spring.application.name=influxdb-app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server.port=8080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influx.url=http://localhost:8086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influx.token=g12-super-token-influxdb-2026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influx.org=grupo12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influx.bucket=monitoramento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E9CFA0-7EA1-47B5-9BB8-815A6016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86200"/>
            <a:ext cx="51663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Java
</a:t>
            </a:r>
            <a:r>
              <a:rPr sz="1200">
                <a:solidFill>
                  <a:srgbClr val="DCEAFE"/>
                </a:solidFill>
              </a:rPr>
              <a:t>Projeto configurado para Java 21 e executado com Maven Wrapper: .\mvnw.cmd spring-boot:run</a:t>
            </a:r>
          </a:p>
        </p:txBody>
      </p:sp>
    </p:spTree>
    <p:extLst>
      <p:ext uri="{BB962C8B-B14F-4D97-AF65-F5344CB8AC3E}">
        <p14:creationId xmlns:p14="http://schemas.microsoft.com/office/powerpoint/2010/main" val="943063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DF06F4-C2C0-4214-8283-88244251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530B366-83CE-4CCA-A555-04D85809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F03F70B-095C-48F4-964F-7F436755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9F5D55-A433-4AA1-9514-F180FAEF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Configuração e DTOs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3E54AA-3023-4002-8980-1F0D5374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Conexão com banco e contrato da API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0722780-DCF6-4B9B-AFAA-12C0E641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DFD7249-83A6-4482-857E-C43B1E77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23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8E6D50-F034-4009-B120-4EC2B0FE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44068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package com.g12.influxdb_app.config;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@Configuration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public class InfluxDBConfig {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@Value("${influx.url}") private String url;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@Value("${influx.token}") private String token;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@Value("${influx.org}") private String org;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@Value("${influx.bucket}") private String bucket;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@Bean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public InfluxDBClient influxDBClient() {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return InfluxDBClientFactory.create(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url, token.toCharArray(), org, bucket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);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90FC49-449A-4AE3-9581-81952B4C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4440"/>
            <a:ext cx="534924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public record ReadingRequest(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@NotBlank String sensorId,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@NotBlank String room,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@NotBlank String type,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@NotBlank String status,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@NotNull Double temperature,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@NotNull Double humidity,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@NotNull Double co2,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@NotNull Integer battery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) {}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public record ReadingResponse(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Instant time,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String sensorId,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String room,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String status,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String field,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Object value</a:t>
            </a:r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) {}</a:t>
            </a:r>
          </a:p>
        </p:txBody>
      </p:sp>
    </p:spTree>
    <p:extLst>
      <p:ext uri="{BB962C8B-B14F-4D97-AF65-F5344CB8AC3E}">
        <p14:creationId xmlns:p14="http://schemas.microsoft.com/office/powerpoint/2010/main" val="1669549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EE0661B-6D81-4BFB-ACB3-DABD4A3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FEB6C9-5F23-4B40-A1E5-85FEC359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4273AE4-2C8B-4D2A-A846-5A8370E9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EED68B-F960-4688-AB01-BBE925E2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ReadingService: CREATE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FDA3AFB-0C80-4E53-8545-6B109854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Inserção de leituras no InfluxDB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A7D1F97-38DC-4E0E-BA6D-1A1F38DA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7AE226A-830D-41BC-B4C3-DEC18E8D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24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E09223A-DF71-4C42-A0A8-7F466899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652760" cy="489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public String create(ReadingRequest request) {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WriteApiBlocking writeApi = influxDBClient.getWriteApiBlocking();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Point point = Point.measurement("sensor_reading")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.addTag("sensorId", request.sensorId())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.addTag("room", request.room())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.addTag("type", request.type())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.addTag("status", request.status())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.addField("temperature", request.temperature())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.addField("humidity", request.humidity())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.addField("co2", request.co2())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.addField("battery", request.battery())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.time(Instant.now(), WritePrecision.NS);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writeApi.writePoint(bucket, org, point);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return "Leitura inserida com sucesso.";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05939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F4B16C-75CD-4368-A08B-8ECA92B8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BC997B3-AF49-4247-86FD-92E509B7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649EEDA-2A37-48F5-90EE-685DBCFC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E3BEFB-E791-44C2-BD2B-9AA29F91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ReadingService: READ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5DF071D-930E-415E-97D1-ED53E273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Consultas da API usando Flux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0E3F516-0FFA-4042-ACDE-9128CB2A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D618F9-473E-4D0C-B62A-0A09E94B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25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96CDD6D-6391-460D-A05D-694CA6F4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652760" cy="489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public List&lt;ReadingResponse&gt; findBySensorId(String sensorId) {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String flux = """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from(bucket: "%s")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|&gt; range(start: 2024-06-17T00:00:00Z)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|&gt; filter(fn: (r) =&gt; r._measurement == "sensor_reading")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|&gt; filter(fn: (r) =&gt; r.sensorId == "%s")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|&gt; keep(columns: ["_time", "sensorId", "room", "status", "_field", "_value"])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""".formatted(bucket, sensorId);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return executeQuery(flux);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private List&lt;ReadingResponse&gt; executeQuery(String flux) {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QueryApi queryApi = influxDBClient.getQueryApi();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List&lt;FluxTable&gt; tables = queryApi.query(flux, org);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// transforma FluxRecord em ReadingResponse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19659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20D1C4-DF38-4519-8E79-D7EE2EBF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A27ED2-E11D-48F4-80CA-A881351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9EE1CA-9B04-48BD-8B2A-369061F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8F6568-1227-477D-9D88-1D9D7683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ReadingService: UPDATE e DELETE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ED7682-C501-4181-AD59-DEB0D5B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Correção de leituras por sensor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FEC48EC-8DBD-40B8-A068-08C6AFF4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E7DE3F7-3622-43C4-B476-4794EEC1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26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7BE6B5-ADBD-4E29-B3D4-D061BC6F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652760" cy="489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public String updateBySensorId(String sensorId, ReadingRequest request) {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deleteBySensorId(sensorId);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create(request);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return "Leitura atualizada com sucesso.";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public String deleteBySensorId(String sensorId) {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DeleteApi deleteApi = influxDBClient.getDeleteApi();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OffsetDateTime start = OffsetDateTime.of(2024, 6, 17, 0, 0, 0, 0, ZoneOffset.UTC);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OffsetDateTime stop = OffsetDateTime.now(ZoneOffset.UTC).plusDays(1);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String predicate = String.format(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"_measurement="sensor_reading" AND sensorId="%s"", sensorId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);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deleteApi.delete(start, stop, predicate, bucket, org);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return "Leituras do sensor " + sensorId + " removidas com sucesso.";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8697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EC916E-7F7F-4560-9450-C0979104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49D1B5E-B5FE-44AD-8C80-513E6139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95880E-5589-455C-BD14-09E13B38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310E00-1CCE-4643-ADE5-711CC9D7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ReadingController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BB9A68B-8FD5-4955-A9D4-455DD21C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Endpoints REST expostos pela aplicação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116890-DBE2-4089-A353-22C4ABDB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0766334-A659-4D82-94C5-F49C5ADC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27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B2B114-EFE5-4A11-ABBE-8983E2D0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52760" cy="5074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@RestController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@RequestMapping("/api/readings")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public class ReadingController {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@PostMapping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public String create(@RequestBody @Valid ReadingRequest request) {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return readingService.create(request);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@GetMapping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public List&lt;ReadingResponse&gt; findAll() {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return readingService.findAll();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@GetMapping("/{sensorId}")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public List&lt;ReadingResponse&gt; findBySensorId(@PathVariable String sensorId) {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return readingService.findBySensorId(sensorId);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@PutMapping("/{sensorId}")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public String updateBySensorId(@PathVariable String sensorId,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                           @RequestBody @Valid ReadingRequest request) {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return readingService.updateBySensorId(sensorId, request);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@DeleteMapping("/{sensorId}")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public String deleteBySensorId(@PathVariable String sensorId) {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    return readingService.deleteBySensorId(sensorId);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40712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8C8FC72-5424-4489-9FFD-86E0CDCF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69AD9D7-DF3F-47EC-88A7-F246515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7C7820-34EF-4142-9FC4-5607223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475EFC-5C0A-4795-A617-0E544DCE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Aplicação em execução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41F797-00E0-475C-AD88-D3C6D842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Spring Boot iniciado na porta 8080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65AD35-E207-45A5-9C0E-410DD77D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1AE3C06-C16B-4F05-9BD5-898B940E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28</a:t>
            </a:r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686a945df4d6b"/>
          <a:srcRect xmlns:a="http://schemas.openxmlformats.org/drawingml/2006/main" l="121" t="0" r="121" b="0"/>
          <a:stretch xmlns:a="http://schemas.openxmlformats.org/drawingml/2006/main"/>
        </p:blipFill>
        <p:spPr>
          <a:xfrm xmlns:a="http://schemas.openxmlformats.org/drawingml/2006/main">
            <a:off x="594360" y="1325880"/>
            <a:ext cx="10972800" cy="338328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02310B3-59E7-4EA6-915B-770870D6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4920"/>
            <a:ext cx="33375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Comando usado
</a:t>
            </a:r>
            <a:r>
              <a:rPr sz="1200">
                <a:solidFill>
                  <a:srgbClr val="DCEAFE"/>
                </a:solidFill>
              </a:rPr>
              <a:t>cd app/influxdb-app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CEAFE"/>
                </a:solidFill>
              </a:rPr>
              <a:t>.\mvnw.cmd spring-boot:run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8DF3CA1-A9C0-4C5E-B1C6-CC7B63C4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74920"/>
            <a:ext cx="33375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Resultado
</a:t>
            </a:r>
            <a:r>
              <a:rPr sz="1200">
                <a:solidFill>
                  <a:srgbClr val="DCEAFE"/>
                </a:solidFill>
              </a:rPr>
              <a:t>Tomcat started on port 8080 e aplicação Started sem erros.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D2EB7EF-5F84-4082-B928-CBD661A0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74920"/>
            <a:ext cx="33375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JDK
</a:t>
            </a:r>
            <a:r>
              <a:rPr sz="1200">
                <a:solidFill>
                  <a:srgbClr val="DCEAFE"/>
                </a:solidFill>
              </a:rPr>
              <a:t>Foi necessário instalar JDK 21 para compilar o projeto.</a:t>
            </a:r>
          </a:p>
        </p:txBody>
      </p:sp>
    </p:spTree>
    <p:extLst>
      <p:ext uri="{BB962C8B-B14F-4D97-AF65-F5344CB8AC3E}">
        <p14:creationId xmlns:p14="http://schemas.microsoft.com/office/powerpoint/2010/main" val="5502258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9596BB8-7E26-4548-B8F7-B186EA16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B9B854F-B429-46E5-871B-CD3F2812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A4BCE9-5985-49EB-BED0-A2034737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268699C-B75C-4451-A489-F7CFAD5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CRUD testado na API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7522C4-2345-41BF-8C6E-17877F10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Endpoints utilizados em navegador e Postman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D8A17E-84C4-486B-9359-D8AD14E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F156ED-ED15-4222-AC87-9A85040B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29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E3FBE7C-A8D2-4086-805A-510F057A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Operação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7CE734F-FC96-4D3E-B341-D66ED634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34440"/>
            <a:ext cx="13716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Método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E263BB-4D01-4332-8ECE-7CD9AFE5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34440"/>
            <a:ext cx="5349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86DC3C4-EB50-47CA-A451-068F6313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234440"/>
            <a:ext cx="2286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E2EFF5E-13DD-4A88-96B7-C7C4C33C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448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A2650D2-39ED-4D38-8BAD-BAD4B6F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54480"/>
            <a:ext cx="13716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D6112A1-A4F2-48F8-BBDA-D7364030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54480"/>
            <a:ext cx="5349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/api/readings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7EB092-2223-4009-8F58-CC913B2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554480"/>
            <a:ext cx="2286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Funcionou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A746E8-B63F-4CE8-B371-3A67D10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21A6705-DC14-485B-A6E3-EF39A42E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74520"/>
            <a:ext cx="13716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D27680D-B629-4DF8-8FC7-9E257FF1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74520"/>
            <a:ext cx="5349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/api/readings e /api/readings/S01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652D23-64F2-4227-BDD3-2E01EE68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74520"/>
            <a:ext cx="2286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Funcionou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076189D-F11F-49BB-BCBC-1928B1D8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456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C197841-6ED7-43ED-809B-56A7C94F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4560"/>
            <a:ext cx="13716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02CB65C-78D3-4D19-A19A-CE3B78EE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4560"/>
            <a:ext cx="5349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/api/readings/S99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F9D9194-0693-498F-8234-83B28E91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194560"/>
            <a:ext cx="2286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Funcionou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FD5FD0D-47AA-4E44-AE73-F73C6322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96D9433-1BAA-4438-9749-DA692E80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14600"/>
            <a:ext cx="13716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6CB34EB-101D-4834-933E-711DC4AA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14600"/>
            <a:ext cx="5349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/api/readings/S99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678D635-1CCB-4616-8352-DED3A631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514600"/>
            <a:ext cx="2286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2FF"/>
                </a:solidFill>
                <a:latin typeface="Aptos"/>
                <a:ea typeface="Aptos"/>
                <a:cs typeface="Aptos"/>
              </a:rPr>
              <a:t>Funcionou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7B37883-2BAE-4B5A-9F1D-A7B5B678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2D3EE"/>
                </a:solidFill>
              </a:rPr>
              <a:t>Exemplo de body usado no POST/PUT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1E2F238-E426-482B-9409-A69DEB3A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66160"/>
            <a:ext cx="507492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"sensorId": "S99",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"room": "LAB_TESTE_ATUALIZADO",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"type": "environment",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"status": "ALERT",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"temperature": 31.5,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"humidity": 55.0,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"co2": 1300.0,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  "battery": 75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BE7C6B7-07AE-47B9-A345-B914C43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566160"/>
            <a:ext cx="5074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t">
            <a:norm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EAF2FF"/>
                </a:solidFill>
              </a:rPr>
              <a:t>POST retornou: Leitura inserida com sucesso.</a:t>
            </a:r>
          </a:p>
          <a:p xmlns:a="http://schemas.openxmlformats.org/drawingml/2006/main">
            <a:r>
              <a:rPr sz="1250">
                <a:solidFill>
                  <a:srgbClr val="EAF2FF"/>
                </a:solidFill>
              </a:rPr>
              <a:t>PUT retornou: Leitura atualizada com sucesso.</a:t>
            </a:r>
          </a:p>
          <a:p xmlns:a="http://schemas.openxmlformats.org/drawingml/2006/main">
            <a:r>
              <a:rPr sz="1250">
                <a:solidFill>
                  <a:srgbClr val="EAF2FF"/>
                </a:solidFill>
              </a:rPr>
              <a:t>DELETE retornou: Leituras do sensor S99 removidas com sucesso.</a:t>
            </a:r>
          </a:p>
          <a:p xmlns:a="http://schemas.openxmlformats.org/drawingml/2006/main">
            <a:r>
              <a:rPr sz="1250">
                <a:solidFill>
                  <a:srgbClr val="EAF2FF"/>
                </a:solidFill>
              </a:rPr>
              <a:t>GET confirmou a criação, atualização e remoção.</a:t>
            </a:r>
          </a:p>
        </p:txBody>
      </p:sp>
    </p:spTree>
    <p:extLst>
      <p:ext uri="{BB962C8B-B14F-4D97-AF65-F5344CB8AC3E}">
        <p14:creationId xmlns:p14="http://schemas.microsoft.com/office/powerpoint/2010/main" val="10652300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1F9E26-1C99-420C-B9E4-C19B1DB8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5B7EB99-CF11-4AC6-8E44-7EC8A0CD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6AE9118-B0C6-4C76-8980-ECC8ACD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2D86DC-B482-4C6D-8C2B-4C956CF3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Como executar o projeto completo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B4CA67-55FF-41E8-8285-B1D50E8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Passos documentados no README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C2EE51-1ABF-40DE-9DDE-8C7BF133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BB0D22-4DD5-4063-A28B-44F77B2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30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F92618-A091-4348-AB84-4FFA3E0A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083564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1. Subir banco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cd database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2. Inserir dados iniciais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docker cp seed-data.lp g12-influxdb:/tmp/seed-data.lp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docker exec g12-influxdb sh -c "tr -d '
' &lt; /tmp/seed-data.lp &gt; /tmp/seed-data-clean.lp"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docker exec g12-influxdb influx write --bucket monitoramento --org grupo12 --token g12-super-token-influxdb-2026 --precision s --file /tmp/seed-data-clean.lp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3. Rodar aplicação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cd ../app/influxdb-app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.\mvnw.cmd spring-boot:run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4. Testar API</a:t>
            </a:r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http://localhost:8080/api/readings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0BBC07-1760-483A-B893-8ACD1434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356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README.md
</a:t>
            </a:r>
            <a:r>
              <a:rPr sz="1200">
                <a:solidFill>
                  <a:srgbClr val="DCEAFE"/>
                </a:solidFill>
              </a:rPr>
              <a:t>Contém tecnologias, estrutura, credenciais, comandos, endpoints e lista de consultas.</a:t>
            </a:r>
          </a:p>
        </p:txBody>
      </p:sp>
    </p:spTree>
    <p:extLst>
      <p:ext uri="{BB962C8B-B14F-4D97-AF65-F5344CB8AC3E}">
        <p14:creationId xmlns:p14="http://schemas.microsoft.com/office/powerpoint/2010/main" val="4564515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CB0A9D0-1BAA-4783-9B96-42CFD41B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A572B99-582D-427A-BC32-BB63561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92F050-9E7D-40EB-AD26-5A5DD3F7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3CA1D77-CADB-45B9-B752-98221F61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Repositório e clonagem pelo colega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A8F356-F932-474F-B4C8-AC74D787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Como compartilhar o projeto inteiro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B3520A3-F9D8-4BB1-9656-CA7D5E17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6EFCDB-80F5-49CA-924B-7D555E49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31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CF90DB-CE9A-4994-95EE-16CFFA65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25780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Na máquina do colega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git clone LINK_DO_REPOSITORIO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cd trabalho-final-g12-influxdb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Rodar banco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cd database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Rodar app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cd ../app/influxdb-app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.\mvnw.cmd spring-boot:run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4C8F233-9F80-45C6-88A5-7E453FDD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25780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334155">
                <a:alpha val="80000"/>
              </a:srgbClr>
            </a:solidFill>
          </a:ln>
        </p:spPr>
        <p:txBody>
          <a:bodyPr xmlns:a="http://schemas.openxmlformats.org/drawingml/2006/main" wrap="square" lIns="1397" tIns="1397" rIns="1397" bIns="139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# .gitignore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app/influxdb-app/target/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database/influxdb-data/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database/influxdb-config/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.vscode/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.idea/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*.log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2528791-9E85-411B-8DE2-D85457C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86200"/>
            <a:ext cx="50749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t">
            <a:norm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EAF2FF"/>
                </a:solidFill>
              </a:rPr>
              <a:t>Subir a pasta raiz trabalho-final-g12-influxdb, não apenas a pasta app.</a:t>
            </a:r>
          </a:p>
          <a:p xmlns:a="http://schemas.openxmlformats.org/drawingml/2006/main">
            <a:r>
              <a:rPr sz="1300">
                <a:solidFill>
                  <a:srgbClr val="EAF2FF"/>
                </a:solidFill>
              </a:rPr>
              <a:t>Manter scripts e Maven Wrapper no repositório.</a:t>
            </a:r>
          </a:p>
          <a:p xmlns:a="http://schemas.openxmlformats.org/drawingml/2006/main">
            <a:r>
              <a:rPr sz="1300">
                <a:solidFill>
                  <a:srgbClr val="EAF2FF"/>
                </a:solidFill>
              </a:rPr>
              <a:t>Não versionar dados internos do InfluxDB nem target/.</a:t>
            </a:r>
          </a:p>
          <a:p xmlns:a="http://schemas.openxmlformats.org/drawingml/2006/main">
            <a:r>
              <a:rPr sz="1300">
                <a:solidFill>
                  <a:srgbClr val="EAF2FF"/>
                </a:solidFill>
              </a:rPr>
              <a:t>Convidar o colega como colaborador se o repositório for privado.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3A462-C3EE-480F-A2FC-9AE7E65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2578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604AB-C6BA-486C-973F-63BDD0A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9149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Na maquina do colega</a:t>
            </a:r>
          </a:p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git clone https://github.com/Lukas109V/trabalho-final-g12-influxdb</a:t>
            </a:r>
          </a:p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trabalho-final-g12-influxdb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Rodar banco</a:t>
            </a:r>
          </a:p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database</a:t>
            </a:r>
          </a:p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Rodar app</a:t>
            </a:r>
          </a:p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../app/influxdb-app</a:t>
            </a:r>
          </a:p>
          <a:p xmlns:a="http://schemas.openxmlformats.org/drawingml/2006/main">
            <a:pPr>
              <a:defRPr sz="8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.\mvnw.cmd spring-boot:run</a:t>
            </a:r>
          </a:p>
        </p:txBody>
      </p:sp>
    </p:spTree>
    <p:extLst>
      <p:ext uri="{BB962C8B-B14F-4D97-AF65-F5344CB8AC3E}">
        <p14:creationId xmlns:p14="http://schemas.microsoft.com/office/powerpoint/2010/main" val="12487226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F1B7270-E2DA-4C4D-9D4C-ADAC0AEE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8D430-27BC-4612-9885-C3B95614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693E69A-F9A8-4FA0-B67F-5569443D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FE27F75-02DF-441F-BC80-7C52730F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Sequência sugerida para demonstrar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0FB6CF-C745-455C-A8C2-1CF7064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Ordem prática para apresentar o programa funcionando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6CC887-0149-483E-8821-AA8ABB1A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581AD5-DA07-4AF8-B6C1-AE07588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32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EDBAE32-5532-4D0C-8D0B-378D7576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73152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1F5510-CD4E-49D2-AC6B-6D275190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234440"/>
            <a:ext cx="672084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Demonstração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417079-42C0-461B-9123-4A11B6E8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4440"/>
            <a:ext cx="320040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Ferramenta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A7B900-4081-4994-BBBC-6B22145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8795"/>
            <a:ext cx="73152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04E37C6-15ED-4A31-834D-B62246A6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788795"/>
            <a:ext cx="672084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Mostrar Docker Desktop com g12-influxdb rodando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CFF7F2D-368E-412B-850F-52A489D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88795"/>
            <a:ext cx="320040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Docker Desktop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0910452-32E9-4FAE-B69A-FAE7B835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43150"/>
            <a:ext cx="73152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94E61B-309B-43D8-A249-99C265EC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43150"/>
            <a:ext cx="672084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Abrir InfluxDB e bucket monitoramento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7C95036-F3E1-4E0D-A640-8825C89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320040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Navegador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25ABA0-849A-4AE1-B8C2-2D609D67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97505"/>
            <a:ext cx="73152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553A478-29F8-42D4-931B-139224CC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7505"/>
            <a:ext cx="672084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Executar find, group e consultas complexas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2179C03-3638-4F1F-9DE4-C8112D5D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7505"/>
            <a:ext cx="320040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Data Explorer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E2174ED-088F-4764-B2C5-98098F6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1860"/>
            <a:ext cx="73152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0F46210-0549-4B30-8FC8-5124604F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51860"/>
            <a:ext cx="672084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Rodar Spring Boot no terminal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8F0B73D-E5A8-49CF-A978-6AFA9F2F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51860"/>
            <a:ext cx="320040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VS Code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4EB19A9-11A3-4C31-8F45-9C73864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06215"/>
            <a:ext cx="73152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2246CA1-1735-4D08-A458-FDBC29C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006215"/>
            <a:ext cx="672084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Testar GET no navegador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735275D-7B35-452B-B5C5-F4D6A182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6215"/>
            <a:ext cx="320040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Navegador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8D47EB-371F-4528-8A0A-067EF5C5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60570"/>
            <a:ext cx="73152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7941BA5-844E-4722-94DC-CBC56450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60570"/>
            <a:ext cx="672084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Testar POST, PUT e DELETE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373B56A-38BA-4CEF-B211-FB4233C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60570"/>
            <a:ext cx="320040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Postman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8597553-5E2F-47CB-9AB1-5D4571CE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14925"/>
            <a:ext cx="73152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4AAD623-35A4-4AC8-A19B-93E4F392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14925"/>
            <a:ext cx="672084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Abrir README e estrutura do projeto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5B0C9ED-3176-4DED-BBD5-2A33153E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14925"/>
            <a:ext cx="3200400" cy="554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EAF2FF"/>
                </a:solidFill>
                <a:latin typeface="Aptos"/>
                <a:ea typeface="Aptos"/>
                <a:cs typeface="Aptos"/>
              </a:rPr>
              <a:t>VS Code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C064B7D-37FF-492F-9089-AFB552DC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06440"/>
            <a:ext cx="106527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Foco na fala
</a:t>
            </a:r>
            <a:r>
              <a:rPr sz="1200">
                <a:solidFill>
                  <a:srgbClr val="DCEAFE"/>
                </a:solidFill>
              </a:rPr>
              <a:t>Mostrar que o programa realmente roda, que o CRUD funciona, e que as consultas equivalentes do enunciado foram testadas.</a:t>
            </a:r>
          </a:p>
        </p:txBody>
      </p:sp>
    </p:spTree>
    <p:extLst>
      <p:ext uri="{BB962C8B-B14F-4D97-AF65-F5344CB8AC3E}">
        <p14:creationId xmlns:p14="http://schemas.microsoft.com/office/powerpoint/2010/main" val="98705864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D7D9057-758E-4D67-8199-6889D8C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E2FCB75-2A41-4EE1-83DA-7AE9718E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3E49BD1-101D-4473-B5EC-ECACF79C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C5AD09B-44E4-4414-9FBC-80DCB9F2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Decisões técnicas importantes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5FE651-D4EC-421D-A97F-0983B130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O que justifica a implementação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D00876-7A33-4672-B967-D700BD15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2DDDF8-C5BE-4F5D-9854-5A46020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33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94F8BFC-B30A-498B-AE0A-75FB58B9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352044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Docker Compose
</a:t>
            </a:r>
            <a:r>
              <a:rPr sz="1200">
                <a:solidFill>
                  <a:srgbClr val="DCEAFE"/>
                </a:solidFill>
              </a:rPr>
              <a:t>Facilita a instalação e torna o banco reproduzível para professor e colega.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3C772D1-9E7D-4482-A0AB-A24913F5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25880"/>
            <a:ext cx="352044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InfluxDB
</a:t>
            </a:r>
            <a:r>
              <a:rPr sz="1200">
                <a:solidFill>
                  <a:srgbClr val="DCEAFE"/>
                </a:solidFill>
              </a:rPr>
              <a:t>Escolhido por ser o banco sorteado para o G12 e por ser adequado a dados temporais.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37D6E2D-4344-43F1-8EDC-E60B902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25880"/>
            <a:ext cx="352044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Modelo de tags/fields
</a:t>
            </a:r>
            <a:r>
              <a:rPr sz="1200">
                <a:solidFill>
                  <a:srgbClr val="DCEAFE"/>
                </a:solidFill>
              </a:rPr>
              <a:t>Tags para filtro/agrupamento; fields para valores medidos.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C70C1B-86C1-4546-9A46-B4716A8A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34924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Flux em vez de MongoDB
</a:t>
            </a:r>
            <a:r>
              <a:rPr sz="1200">
                <a:solidFill>
                  <a:srgbClr val="DCEAFE"/>
                </a:solidFill>
              </a:rPr>
              <a:t>find, match, project, group, lookup e unwind foram demonstrados por equivalência.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4929BBB-15F7-49F1-9DB0-8E67D0AF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534924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Update no InfluxDB
</a:t>
            </a:r>
            <a:r>
              <a:rPr sz="1200">
                <a:solidFill>
                  <a:srgbClr val="DCEAFE"/>
                </a:solidFill>
              </a:rPr>
              <a:t>Implementado como remoção por sensor e reinserção da leitura corrigida.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4D34BEB-108B-4D92-8691-21DF7D65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108356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Aplicação REST
</a:t>
            </a:r>
            <a:r>
              <a:rPr sz="1200">
                <a:solidFill>
                  <a:srgbClr val="DCEAFE"/>
                </a:solidFill>
              </a:rPr>
              <a:t>Spring Boot expõe a comunicação com o InfluxDB por endpoints simples e testáveis.</a:t>
            </a:r>
          </a:p>
        </p:txBody>
      </p:sp>
    </p:spTree>
    <p:extLst>
      <p:ext uri="{BB962C8B-B14F-4D97-AF65-F5344CB8AC3E}">
        <p14:creationId xmlns:p14="http://schemas.microsoft.com/office/powerpoint/2010/main" val="6984004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EE1ACB-E3D1-489E-A0F0-1948D08F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1B387BD-9FA7-4CC5-9A00-0367AC6B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368A5A9-04BE-48A3-AB3F-20964588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AA0622-7B11-42F5-81F6-0308EE9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Problemas corrigidos durante o desenvolvimento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93D617-FC76-4A2F-82F6-56239E87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Pontos que mostram domínio do processo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2F03CC-6C6B-4551-8E50-E7D56059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9AFD69A-7054-45A3-AEC8-9F09386C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34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21AED1-FA2A-49AA-97FC-CD5D57D6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292608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A90A038-DFB8-4008-A2D2-399DCBF0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234440"/>
            <a:ext cx="38862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Causa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8B5416E-D056-400E-85D5-8B17C1A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234440"/>
            <a:ext cx="402336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4A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Correção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DC3EC4-7368-497E-A016-2767766F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92608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docker não reconhecido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EA04F0-B125-455B-A608-15E194F1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43100"/>
            <a:ext cx="38862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Docker Desktop ainda não instalado/ativo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6408176-3671-4379-8174-FC8CC114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943100"/>
            <a:ext cx="402336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Instalação do Docker Desktop + WSL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617356D-0DAD-49D9-B997-84FE0AD3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1760"/>
            <a:ext cx="292608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invalid line protocol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25041D8-26DB-47BA-B883-C60FEA94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51760"/>
            <a:ext cx="38862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Quebra de linha CRLF do Windows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C46DBDD-A069-42B2-B1C4-52472B7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651760"/>
            <a:ext cx="402336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tr -d \r antes do influx write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BF73BC6-0BEE-424A-B1D6-47748F04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0420"/>
            <a:ext cx="292608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mvn não reconhecido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2700D8C-940F-4195-8E27-95860978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360420"/>
            <a:ext cx="38862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Maven não instalado globalmente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B611946-AA5F-4038-9E8C-89599941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360420"/>
            <a:ext cx="402336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Uso do Maven Wrapper: .\mvnw.cmd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DE6AA2E-BFEC-4D50-9E63-34597B71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9080"/>
            <a:ext cx="292608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No compiler provided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08E3381-4C6F-438B-98C8-1FEB6767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069080"/>
            <a:ext cx="38862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Java 8/JRE sem javac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E4D9BDC-9E8E-4657-994F-0E0E5BF8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069080"/>
            <a:ext cx="402336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Instalação do JDK 21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4159CA9-F652-4FE1-AD9B-A12D5421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7740"/>
            <a:ext cx="292608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404 no /api/readings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E754F3B-C5D3-444F-A241-6D6F8D76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777740"/>
            <a:ext cx="38862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Classes fora de src/main/java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A72D167-34D8-4DE4-BFA8-9A14526E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777740"/>
            <a:ext cx="402336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334155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EAF2FF"/>
                </a:solidFill>
                <a:latin typeface="Aptos"/>
                <a:ea typeface="Aptos"/>
                <a:cs typeface="Aptos"/>
              </a:rPr>
              <a:t>Mover packages para com.g12.influxdb_app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87765A0-38AD-4928-AB75-478001F4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356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Importante
</a:t>
            </a:r>
            <a:r>
              <a:rPr sz="1200">
                <a:solidFill>
                  <a:srgbClr val="DCEAFE"/>
                </a:solidFill>
              </a:rPr>
              <a:t>Essas correções podem ser citadas se o professor perguntar como o projeto foi preparado para rodar em outra máquina.</a:t>
            </a:r>
          </a:p>
        </p:txBody>
      </p:sp>
    </p:spTree>
    <p:extLst>
      <p:ext uri="{BB962C8B-B14F-4D97-AF65-F5344CB8AC3E}">
        <p14:creationId xmlns:p14="http://schemas.microsoft.com/office/powerpoint/2010/main" val="2528655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0A914A-83E2-48E0-8C84-368CFCE0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F5DAE45-3394-4163-A40C-621A9740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AC7EEF-57C1-4B39-B241-BD91AE4B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0BEF43B-142B-44E4-91C6-2D88EC12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Checklist de entrega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866748-9187-4FFA-A588-25B392A7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Tudo que o grupo deve enviar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86A1F0B-C0B3-4CA5-B2EE-714BCC6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81DDDF-5EDA-4B9D-8EB9-0F9FA529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35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08383C3-97FC-4FDC-AAB7-5831753E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56235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t">
            <a:norm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EAF2FF"/>
                </a:solidFill>
              </a:rPr>
              <a:t>Código da aplicação Spring Boot dentro de app/influxdb-app.</a:t>
            </a:r>
          </a:p>
          <a:p xmlns:a="http://schemas.openxmlformats.org/drawingml/2006/main">
            <a:r>
              <a:rPr sz="1500">
                <a:solidFill>
                  <a:srgbClr val="EAF2FF"/>
                </a:solidFill>
              </a:rPr>
              <a:t>Scripts do banco dentro de database: docker-compose.yml e seed-data.lp.</a:t>
            </a:r>
          </a:p>
          <a:p xmlns:a="http://schemas.openxmlformats.org/drawingml/2006/main">
            <a:r>
              <a:rPr sz="1500">
                <a:solidFill>
                  <a:srgbClr val="EAF2FF"/>
                </a:solidFill>
              </a:rPr>
              <a:t>Consultas Flux dentro de database/queries: arquivos 01 a 09.</a:t>
            </a:r>
          </a:p>
          <a:p xmlns:a="http://schemas.openxmlformats.org/drawingml/2006/main">
            <a:r>
              <a:rPr sz="1500">
                <a:solidFill>
                  <a:srgbClr val="EAF2FF"/>
                </a:solidFill>
              </a:rPr>
              <a:t>README.md com instruções de execução e endpoints.</a:t>
            </a:r>
          </a:p>
          <a:p xmlns:a="http://schemas.openxmlformats.org/drawingml/2006/main">
            <a:r>
              <a:rPr sz="1500">
                <a:solidFill>
                  <a:srgbClr val="EAF2FF"/>
                </a:solidFill>
              </a:rPr>
              <a:t>Apresentação explicando banco, aplicação, consultas e CRUD.</a:t>
            </a:r>
          </a:p>
          <a:p xmlns:a="http://schemas.openxmlformats.org/drawingml/2006/main">
            <a:r>
              <a:rPr sz="1500">
                <a:solidFill>
                  <a:srgbClr val="EAF2FF"/>
                </a:solidFill>
              </a:rPr>
              <a:t>Repositório no GitHub com .gitignore correto.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60B697-577B-4CB4-8D53-48B835E6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916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</a:rPr>
              <a:t>9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D5835A-0DCD-4488-BA90-E4D5FEFC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consultas Flux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CFC7678-3C75-418F-9E7A-B46715AB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6916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0B981"/>
                </a:solidFill>
              </a:rPr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3FE2A5-97DC-4200-90F1-CA147F74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1031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endpoints REST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984A45A-C9E0-4FBA-9E07-FACDA305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632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BBF24"/>
                </a:solidFill>
              </a:rPr>
              <a:t>4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013A65D-7E53-4D88-8E29-F45C9B89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747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operações CRUD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8BBA2B1-F02D-4244-AD13-62BF109D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0632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</a:rPr>
              <a:t>1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FE823EB-08C0-4884-A223-0DF4F9A5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4747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AB8D5"/>
                </a:solidFill>
              </a:rPr>
              <a:t>README completo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F9029C-AB53-47A6-AE63-B964041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17720"/>
            <a:ext cx="3703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Status final
</a:t>
            </a:r>
            <a:r>
              <a:rPr sz="1200">
                <a:solidFill>
                  <a:srgbClr val="DCEAFE"/>
                </a:solidFill>
              </a:rPr>
              <a:t>Banco, queries, aplicação, CRUD e documentação foram concluídos e testados.</a:t>
            </a:r>
          </a:p>
        </p:txBody>
      </p:sp>
    </p:spTree>
    <p:extLst>
      <p:ext uri="{BB962C8B-B14F-4D97-AF65-F5344CB8AC3E}">
        <p14:creationId xmlns:p14="http://schemas.microsoft.com/office/powerpoint/2010/main" val="843681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957606-79E9-4460-AD51-A1D1CF8B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12700">
            <a:solidFill>
              <a:srgbClr val="0B102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BEE7482-40CD-4024-AE83-A8AA724E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80000"/>
            </a:srgbClr>
          </a:solidFill>
          <a:ln xmlns:a="http://schemas.openxmlformats.org/drawingml/2006/main"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56BB89-A269-4881-9B88-725033F5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90000"/>
            </a:srgbClr>
          </a:solidFill>
          <a:ln xmlns:a="http://schemas.openxmlformats.org/drawingml/2006/main"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96CA2B8-354D-49DB-A8BB-69210C4D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Conclusão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7237EBB-2F08-4B6C-A282-0FB92CCF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41248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AB8D5"/>
                </a:solidFill>
              </a:rPr>
              <a:t>Programa final do Grupo G12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B85AE5-4CB6-400C-AF5A-6AC0B14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7498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AAB8D5"/>
                </a:solidFill>
              </a:rPr>
              <a:t>G12 · InfluxDB · Trabalho Final NoSQL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476EC3-1EE4-4031-AD8B-EBC81AE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052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B8D5"/>
                </a:solidFill>
              </a:rPr>
              <a:t>36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313B1D0-6CB3-4FAE-8B2C-6DDC0BC6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8760"/>
            <a:ext cx="10332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EAF2FF"/>
                </a:solidFill>
              </a:rPr>
              <a:t>O projeto entrega um sistema funcional de monitoramento ambiental com InfluxDB, usando dados temporais, aplicação Java/Spring Boot e consultas Flux equivalentes aos requisitos do trabalho.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92F6E68-F9B2-421A-A5FC-E7237552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49834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Lucas Gabriel Gomes Martins
</a:t>
            </a:r>
            <a:r>
              <a:rPr sz="1200">
                <a:solidFill>
                  <a:srgbClr val="DCEAFE"/>
                </a:solidFill>
              </a:rPr>
              <a:t>Apresentação, demonstração do banco/consultas e explicação geral.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BE2DE59-8681-42EE-B467-731B13E1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54680"/>
            <a:ext cx="49834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>
            <a:solidFill>
              <a:srgbClr val="2A3A58">
                <a:alpha val="75000"/>
              </a:srgbClr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Gabriel de Carvalho Souza
</a:t>
            </a:r>
            <a:r>
              <a:rPr sz="1200">
                <a:solidFill>
                  <a:srgbClr val="DCEAFE"/>
                </a:solidFill>
              </a:rPr>
              <a:t>Demonstração da aplicação, endpoints CRUD e organização da entrega.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FC143B5-E202-4A00-B95F-F260B9FB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22D3EE"/>
                </a:solidFill>
              </a:rPr>
              <a:t>InfluxDB · Docker · Spring Boot · Flux · CRUD</a:t>
            </a:r>
          </a:p>
        </p:txBody>
      </p:sp>
    </p:spTree>
    <p:extLst>
      <p:ext uri="{BB962C8B-B14F-4D97-AF65-F5344CB8AC3E}">
        <p14:creationId xmlns:p14="http://schemas.microsoft.com/office/powerpoint/2010/main" val="92078604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C3E48-7D28-4F44-93C3-3A2DDD5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G12 - INFLUXDB | EVIDENCIAS DO PROGRAMA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D71AC-1DF4-4674-ADE7-18BA55B7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Execucao validada em ambiente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4FBF9-781B-4395-881E-72BD710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Docker, InfluxDB, seed, Maven e API Spring Boot foram executados na maquina de demonstracao.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47F20-7E1D-4034-918A-8B352F8F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1075B-057E-4F1C-920E-C3332874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11C6E-69F0-4704-96CD-89635CB2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29.5.3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AEA37-8597-4EE3-A0E5-5A0CC193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DA9E5-4BBF-4156-8D0B-6F9EEE08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717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InfluxDB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5A42E-C056-49D5-AA3D-ADC35DCD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ping 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99ED1-6BCA-479E-BFAD-3F958C1D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FE13B-FF9F-4C32-8583-630F4C2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Maven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A33C0-F3FB-45C1-A12B-D3C6817F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BUILD 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DF65B-F824-496E-B053-981E2E13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19300"/>
            <a:ext cx="2400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99780-2C8A-4C1A-BD0E-0CF23EB3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717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A53BA-018E-422A-80BC-2A7437E9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porta 8080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1EA87-2C1D-40A2-9648-FD22B36B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11252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CA64A-FA9C-4AEB-A991-681EECCC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7823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ps --filter name=g12-influxdb</a:t>
            </a:r>
          </a:p>
          <a:p xmlns:a="http://schemas.openxmlformats.org/drawingml/2006/main">
            <a:pPr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g12-influxdb  Up  0.0.0.0:8086-&gt;8086/tcp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g12-influxdb influx ping</a:t>
            </a:r>
          </a:p>
          <a:p xmlns:a="http://schemas.openxmlformats.org/drawingml/2006/main">
            <a:pPr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.\mvnw.cmd test</a:t>
            </a:r>
          </a:p>
          <a:p xmlns:a="http://schemas.openxmlformats.org/drawingml/2006/main">
            <a:pPr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Tests run: 1, Failures: 0, Errors: 0, Skipped: 0</a:t>
            </a:r>
          </a:p>
          <a:p xmlns:a="http://schemas.openxmlformats.org/drawingml/2006/main">
            <a:pPr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BUILD SUCCESS</a:t>
            </a:r>
          </a:p>
        </p:txBody>
      </p:sp>
    </p:spTree>
    <p:extLst>
      <p:ext uri="{BB962C8B-B14F-4D97-AF65-F5344CB8AC3E}">
        <p14:creationId xmlns:p14="http://schemas.microsoft.com/office/powerpoint/2010/main" val="179845342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328AD-61D3-48B5-8BB3-DD28823C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G12 - INFLUXDB | EVIDENCIAS DO PROGRAMA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BE308-ECC9-4BE4-AF7E-1CE7D1FF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CRUD da aplicacao funcionando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B6EB5-0E43-4333-857E-4ED4715A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Chamadas REST criaram, consultaram, atualizaram e removeram uma leitura temporaria no InfluxDB.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F2EE1-055F-4C79-85FE-7796B59A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BEAF1-9F83-4254-9716-E1A5E1E2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07823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POST   /api/readings              -&gt; Leitura inserida com sucesso.</a:t>
            </a:r>
          </a:p>
          <a:p xmlns:a="http://schemas.openxmlformats.org/drawingml/2006/main">
            <a:pPr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GET    /api/readings/S99          -&gt; 4 fields retornados</a:t>
            </a:r>
          </a:p>
          <a:p xmlns:a="http://schemas.openxmlformats.org/drawingml/2006/main">
            <a:pPr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PUT    /api/readings/S99          -&gt; Leitura atualizada com sucesso.</a:t>
            </a:r>
          </a:p>
          <a:p xmlns:a="http://schemas.openxmlformats.org/drawingml/2006/main">
            <a:pPr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GET    /api/readings/S99          -&gt; room=LAB_VALIDACAO_ATUALIZADO</a:t>
            </a:r>
          </a:p>
          <a:p xmlns:a="http://schemas.openxmlformats.org/drawingml/2006/main">
            <a:pPr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DELETE /api/readings/S99          -&gt; Leituras do sensor S99 removidas com sucesso.</a:t>
            </a:r>
          </a:p>
          <a:p xmlns:a="http://schemas.openxmlformats.org/drawingml/2006/main">
            <a:pPr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GET    /api/readings/S99          -&gt; 0 registros apos remocao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BE3B1-D4E3-4795-A9A4-59CBA225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Sensor temporario usado na validacao: S99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80458-7F93-44AF-A5EA-421F305F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Resultado: ciclo CRUD completo confirmado contra a API Spring Boot.</a:t>
            </a:r>
          </a:p>
        </p:txBody>
      </p:sp>
    </p:spTree>
    <p:extLst>
      <p:ext uri="{BB962C8B-B14F-4D97-AF65-F5344CB8AC3E}">
        <p14:creationId xmlns:p14="http://schemas.microsoft.com/office/powerpoint/2010/main" val="62032382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C3491D-607E-4590-8F73-C480A039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G12 - INFLUXDB | EVIDENCIAS DO PROGRAMA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BF33D-B028-4245-A833-33942E2B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Consultas obrigatorias em Flux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736E8-9500-43D3-B91C-78D0485D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As consultas cobrem equivalentes de find, aggregate, match, project, lookup, unwind/manipulacao de arrays e group.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D21E9-ACBC-426A-8493-290418D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9BB38-35A0-491D-BEE2-AB954CED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$group equivalente: media de temperatura por sala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408B0-A807-48CE-9913-223018EB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476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21ADF-13F1-4A34-9B46-DDCA57D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4133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LAB_A    26.33</a:t>
            </a:r>
          </a:p>
          <a:p xmlns:a="http://schemas.openxmlformats.org/drawingml/2006/main">
            <a:pPr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LAB_B    24.97</a:t>
            </a:r>
          </a:p>
          <a:p xmlns:a="http://schemas.openxmlformats.org/drawingml/2006/main">
            <a:pPr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SALA_101 22.63</a:t>
            </a:r>
          </a:p>
          <a:p xmlns:a="http://schemas.openxmlformats.org/drawingml/2006/main">
            <a:pPr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SALA_102 29.10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EC143-A6F9-4B19-9A65-A15AEA3C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0D1A4-2755-46DE-961E-A7DA83AE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$lookup equivalente: join sensor_reading + sensor_info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122C6-B3CE-4DAE-8C04-0EEDB622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476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99F3E-1288-4B40-9C49-7C6A5B25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41338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S01  DHT22   LAB_A     temp 24.5  limite 28</a:t>
            </a:r>
          </a:p>
          <a:p xmlns:a="http://schemas.openxmlformats.org/drawingml/2006/main">
            <a:pPr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S01  DHT22   LAB_A     temp 25.1  limite 28</a:t>
            </a:r>
          </a:p>
          <a:p xmlns:a="http://schemas.openxmlformats.org/drawingml/2006/main">
            <a:pPr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S01  DHT22   LAB_A     temp 29.4  limite 28</a:t>
            </a:r>
          </a:p>
          <a:p xmlns:a="http://schemas.openxmlformats.org/drawingml/2006/main">
            <a:pPr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S02  BME280  LAB_B     temp 23.2  limite 28</a:t>
            </a:r>
          </a:p>
        </p:txBody>
      </p:sp>
    </p:spTree>
    <p:extLst>
      <p:ext uri="{BB962C8B-B14F-4D97-AF65-F5344CB8AC3E}">
        <p14:creationId xmlns:p14="http://schemas.microsoft.com/office/powerpoint/2010/main" val="3461336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7F1A1-B8FB-448E-ADE7-D999512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G12 - INFLUXDB | EVIDENCIAS DO PROGRAMA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92062-1242-41F6-929E-6CF2C5DB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Consultas complexas demonstradas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BB5C1-7437-4A41-A37E-E1395E61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regra de risco combina temperatura, CO2, pivot/map/filter e classificacao calculada por alert_level.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567AE-4108-4422-8D03-2290B695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11252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C15DC-9B6A-4198-9957-9CE9976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7823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Consulta 08: classifica leituras em NORMAL, ATENCAO e CRITICO.</a:t>
            </a:r>
          </a:p>
          <a:p xmlns:a="http://schemas.openxmlformats.org/drawingml/2006/main">
            <a:pPr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Consulta 09: filtra somente salas em risco e ordena por horario.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LAB_A    S01  temp 29.4  CO2 920   ATENCAO</a:t>
            </a:r>
          </a:p>
          <a:p xmlns:a="http://schemas.openxmlformats.org/drawingml/2006/main">
            <a:pPr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LAB_B    S02  temp 27.8  CO2 1100  ATENCAO</a:t>
            </a:r>
          </a:p>
          <a:p xmlns:a="http://schemas.openxmlformats.org/drawingml/2006/main">
            <a:pPr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SALA_102 S04  temp 30.1  CO2 1250  CRITICO</a:t>
            </a:r>
          </a:p>
          <a:p xmlns:a="http://schemas.openxmlformats.org/drawingml/2006/main">
            <a:pPr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SALA_102 S04  temp 31.0  CO2 1320  CRITICO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1D1EC-E93A-47F2-A25B-E56A3DC1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Decisao tecnica: campos numericos ficam como fields; sensorId, room, type e status ficam como tags para filtro e agrupamento eficientes.</a:t>
            </a:r>
          </a:p>
        </p:txBody>
      </p:sp>
    </p:spTree>
    <p:extLst>
      <p:ext uri="{BB962C8B-B14F-4D97-AF65-F5344CB8AC3E}">
        <p14:creationId xmlns:p14="http://schemas.microsoft.com/office/powerpoint/2010/main" val="5113649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2026-06-17T13:39:05.5120000Z</dcterms:created>
  <dcterms:modified xsi:type="dcterms:W3CDTF">2026-06-17T13:39:05.5120000Z</dcterms:modified>
</coreProperties>
</file>